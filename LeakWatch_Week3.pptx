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what LeakWatch is in one sentence, then why it matters using the Oklahoma numbers. Point to 'Main contribution' - stress this is MY own work on top of standard tools. End by reading the research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Problem -&gt; Method -&gt; Evaluation left to right. Then explain the residual box: raw pressure moves all day with demand, so I use the difference from normal - that makes the leak clear. This residual is the input to my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setup. Colab so it runs free with no install. Name the tools and what each is for. Net3 is the practice network now; I move to L-Town and BattLeDIM later. Mention my setup already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parts: the simulation makes the data, the two models detect and locate, and the dispatch step routes the crew. Trace the data-flow row left to right. Note dispatch is shortest-path, not machine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I generate my own data by simulation because real labeled leak data is not public - and because I place the leaks, I know the true answer, which lets me measure accuracy. Walk the flow. BattLeDIM is the real benchmark I validate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real sample from my own data. Point at hour 47 vs 48 - the near sensors crash while far sensors barely change. That drop pattern is the whole signal my models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official sources: WNTR and EPANET for the tools and data method, BattLeDIM and LeakDB for the real benchmark and to confirm simulation is the standard method, and the Oklahoma City sources for the real-world problem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303A"/>
        </a:solidFill>
      </p:bgPr>
    </p:bg>
    <p:spTree>
      <p:nvGrpSpPr>
        <p:cNvPr id="1" name=""/>
        <p:cNvGrpSpPr/>
        <p:nvPr/>
      </p:nvGrpSpPr>
      <p:grpSpPr>
        <a:xfrm>
          <a:off x="0" y="0"/>
          <a:ext cx="0" cy="0"/>
          <a:chOff x="0" y="0"/>
          <a:chExt cx="0" cy="0"/>
        </a:xfrm>
      </p:grpSpPr>
      <p:sp>
        <p:nvSpPr>
          <p:cNvPr id="2" name="Text 0"/>
          <p:cNvSpPr txBox="1"/>
          <p:nvPr/>
        </p:nvSpPr>
        <p:spPr>
          <a:xfrm>
            <a:off x="731520" y="1417320"/>
            <a:ext cx="10607040" cy="9144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LEAKWATCH</a:t>
            </a:r>
            <a:endParaRPr lang="en-US" sz="5000" dirty="0"/>
          </a:p>
        </p:txBody>
      </p:sp>
      <p:sp>
        <p:nvSpPr>
          <p:cNvPr id="3" name="Text 1"/>
          <p:cNvSpPr txBox="1"/>
          <p:nvPr/>
        </p:nvSpPr>
        <p:spPr>
          <a:xfrm>
            <a:off x="777240" y="2468880"/>
            <a:ext cx="10515600" cy="548640"/>
          </a:xfrm>
          <a:prstGeom prst="rect">
            <a:avLst/>
          </a:prstGeom>
          <a:noFill/>
          <a:ln/>
        </p:spPr>
        <p:txBody>
          <a:bodyPr wrap="square" lIns="0" tIns="0" rIns="0" bIns="0" rtlCol="0" anchor="ctr"/>
          <a:lstStyle/>
          <a:p>
            <a:pPr indent="0" marL="0">
              <a:buNone/>
            </a:pPr>
            <a:r>
              <a:rPr lang="en-US" sz="1900" b="1" dirty="0">
                <a:solidFill>
                  <a:srgbClr val="8FD6D6"/>
                </a:solidFill>
                <a:latin typeface="Calibri" pitchFamily="34" charset="0"/>
                <a:ea typeface="Calibri" pitchFamily="34" charset="-122"/>
                <a:cs typeface="Calibri" pitchFamily="34" charset="-120"/>
              </a:rPr>
              <a:t>Machine Learning for Water-Leak Detection, Localization, and Emergency Dispatch</a:t>
            </a:r>
            <a:endParaRPr lang="en-US" sz="1900" dirty="0"/>
          </a:p>
        </p:txBody>
      </p:sp>
      <p:sp>
        <p:nvSpPr>
          <p:cNvPr id="4" name="Text 2"/>
          <p:cNvSpPr txBox="1"/>
          <p:nvPr/>
        </p:nvSpPr>
        <p:spPr>
          <a:xfrm>
            <a:off x="777240" y="3017520"/>
            <a:ext cx="10058400" cy="365760"/>
          </a:xfrm>
          <a:prstGeom prst="rect">
            <a:avLst/>
          </a:prstGeom>
          <a:noFill/>
          <a:ln/>
        </p:spPr>
        <p:txBody>
          <a:bodyPr wrap="square" lIns="0" tIns="0" rIns="0" bIns="0" rtlCol="0" anchor="ctr"/>
          <a:lstStyle/>
          <a:p>
            <a:pPr indent="0" marL="0">
              <a:buNone/>
            </a:pPr>
            <a:r>
              <a:rPr lang="en-US" sz="1600" b="1" i="1" dirty="0">
                <a:solidFill>
                  <a:srgbClr val="C6D6DB"/>
                </a:solidFill>
                <a:latin typeface="Calibri" pitchFamily="34" charset="0"/>
                <a:ea typeface="Calibri" pitchFamily="34" charset="-122"/>
                <a:cs typeface="Calibri" pitchFamily="34" charset="-120"/>
              </a:rPr>
              <a:t>Final Idea &amp; Project Plan  -  Week 3</a:t>
            </a:r>
            <a:endParaRPr lang="en-US" sz="1600" dirty="0"/>
          </a:p>
        </p:txBody>
      </p:sp>
      <p:sp>
        <p:nvSpPr>
          <p:cNvPr id="5" name="Shape 3"/>
          <p:cNvSpPr/>
          <p:nvPr/>
        </p:nvSpPr>
        <p:spPr>
          <a:xfrm>
            <a:off x="777240" y="3703320"/>
            <a:ext cx="10607040" cy="960120"/>
          </a:xfrm>
          <a:prstGeom prst="roundRect">
            <a:avLst>
              <a:gd name="adj" fmla="val 7619"/>
            </a:avLst>
          </a:prstGeom>
          <a:solidFill>
            <a:srgbClr val="1C3B45"/>
          </a:solidFill>
          <a:ln/>
        </p:spPr>
      </p:sp>
      <p:sp>
        <p:nvSpPr>
          <p:cNvPr id="6" name="Text 4"/>
          <p:cNvSpPr txBox="1"/>
          <p:nvPr/>
        </p:nvSpPr>
        <p:spPr>
          <a:xfrm>
            <a:off x="1005840" y="3794760"/>
            <a:ext cx="10149840" cy="777240"/>
          </a:xfrm>
          <a:prstGeom prst="rect">
            <a:avLst/>
          </a:prstGeom>
          <a:noFill/>
          <a:ln/>
        </p:spPr>
        <p:txBody>
          <a:bodyPr wrap="square" lIns="0" tIns="0" rIns="0" bIns="0" rtlCol="0" anchor="ctr"/>
          <a:lstStyle/>
          <a:p>
            <a:pPr indent="0" marL="0">
              <a:lnSpc>
                <a:spcPct val="105000"/>
              </a:lnSpc>
              <a:buNone/>
            </a:pPr>
            <a:r>
              <a:rPr lang="en-US" sz="1500" b="1" dirty="0">
                <a:solidFill>
                  <a:srgbClr val="8FD6D6"/>
                </a:solidFill>
                <a:latin typeface="Calibri" pitchFamily="34" charset="0"/>
                <a:ea typeface="Calibri" pitchFamily="34" charset="-122"/>
                <a:cs typeface="Calibri" pitchFamily="34" charset="-120"/>
              </a:rPr>
              <a:t>Main research question:  </a:t>
            </a:r>
            <a:pPr indent="0" marL="0">
              <a:lnSpc>
                <a:spcPct val="105000"/>
              </a:lnSpc>
              <a:buNone/>
            </a:pPr>
            <a:r>
              <a:rPr lang="en-US" sz="1500" b="1" dirty="0">
                <a:solidFill>
                  <a:srgbClr val="FFFFFF"/>
                </a:solidFill>
                <a:latin typeface="Calibri" pitchFamily="34" charset="0"/>
                <a:ea typeface="Calibri" pitchFamily="34" charset="-122"/>
                <a:cs typeface="Calibri" pitchFamily="34" charset="-120"/>
              </a:rPr>
              <a:t>Can machine learning detect and locate water-pipe leaks from a few pressure sensors, and route the nearest repair crew, using simulated sensor data?</a:t>
            </a:r>
            <a:endParaRPr lang="en-US" sz="1500" dirty="0"/>
          </a:p>
        </p:txBody>
      </p:sp>
      <p:sp>
        <p:nvSpPr>
          <p:cNvPr id="7" name="Text 5"/>
          <p:cNvSpPr txBox="1"/>
          <p:nvPr/>
        </p:nvSpPr>
        <p:spPr>
          <a:xfrm>
            <a:off x="6309360" y="4983480"/>
            <a:ext cx="5074920" cy="1097280"/>
          </a:xfrm>
          <a:prstGeom prst="rect">
            <a:avLst/>
          </a:prstGeom>
          <a:noFill/>
          <a:ln/>
        </p:spPr>
        <p:txBody>
          <a:bodyPr wrap="square" lIns="0" tIns="0" rIns="0" bIns="0" rtlCol="0" anchor="ctr"/>
          <a:lstStyle/>
          <a:p>
            <a:pPr algn="r" indent="0" marL="0">
              <a:spcAft>
                <a:spcPts val="400"/>
              </a:spcAft>
              <a:buNone/>
            </a:pPr>
            <a:r>
              <a:rPr lang="en-US" sz="1600" b="1" dirty="0">
                <a:solidFill>
                  <a:srgbClr val="FFFFFF"/>
                </a:solidFill>
                <a:latin typeface="Calibri" pitchFamily="34" charset="0"/>
                <a:ea typeface="Calibri" pitchFamily="34" charset="-122"/>
                <a:cs typeface="Calibri" pitchFamily="34" charset="-120"/>
              </a:rPr>
              <a:t>Chirumamilla Sri Ravali</a:t>
            </a:r>
            <a:endParaRPr lang="en-US" sz="1600" dirty="0"/>
          </a:p>
          <a:p>
            <a:pPr algn="r" indent="0" marL="0">
              <a:spcAft>
                <a:spcPts val="400"/>
              </a:spcAft>
              <a:buNone/>
            </a:pPr>
            <a:r>
              <a:rPr lang="en-US" sz="1600" b="1" dirty="0">
                <a:solidFill>
                  <a:srgbClr val="C6D6DB"/>
                </a:solidFill>
                <a:latin typeface="Calibri" pitchFamily="34" charset="0"/>
                <a:ea typeface="Calibri" pitchFamily="34" charset="-122"/>
                <a:cs typeface="Calibri" pitchFamily="34" charset="-120"/>
              </a:rPr>
              <a:t>B00120507</a:t>
            </a:r>
            <a:endParaRPr lang="en-US" sz="1600" dirty="0"/>
          </a:p>
          <a:p>
            <a:pPr algn="r" indent="0" marL="0">
              <a:spcAft>
                <a:spcPts val="400"/>
              </a:spcAft>
              <a:buNone/>
            </a:pPr>
            <a:r>
              <a:rPr lang="en-US" sz="1600" b="1" dirty="0">
                <a:solidFill>
                  <a:srgbClr val="C6D6DB"/>
                </a:solidFill>
                <a:latin typeface="Calibri" pitchFamily="34" charset="0"/>
                <a:ea typeface="Calibri" pitchFamily="34" charset="-122"/>
                <a:cs typeface="Calibri" pitchFamily="34" charset="-120"/>
              </a:rPr>
              <a:t>Computer Science - Data Science</a:t>
            </a:r>
            <a:endParaRPr lang="en-US" sz="1600" dirty="0"/>
          </a:p>
        </p:txBody>
      </p:sp>
      <p:sp>
        <p:nvSpPr>
          <p:cNvPr id="8" name="Shape 6"/>
          <p:cNvSpPr/>
          <p:nvPr/>
        </p:nvSpPr>
        <p:spPr>
          <a:xfrm>
            <a:off x="548640" y="6382512"/>
            <a:ext cx="11091672" cy="0"/>
          </a:xfrm>
          <a:prstGeom prst="line">
            <a:avLst/>
          </a:prstGeom>
          <a:noFill/>
          <a:ln w="12700">
            <a:solidFill>
              <a:srgbClr val="D6DFE4"/>
            </a:solidFill>
            <a:prstDash val="solid"/>
          </a:ln>
        </p:spPr>
      </p:sp>
      <p:sp>
        <p:nvSpPr>
          <p:cNvPr id="9" name="Text 7"/>
          <p:cNvSpPr txBox="1"/>
          <p:nvPr/>
        </p:nvSpPr>
        <p:spPr>
          <a:xfrm>
            <a:off x="10881360" y="6400800"/>
            <a:ext cx="758952" cy="274320"/>
          </a:xfrm>
          <a:prstGeom prst="rect">
            <a:avLst/>
          </a:prstGeom>
          <a:noFill/>
          <a:ln/>
        </p:spPr>
        <p:txBody>
          <a:bodyPr wrap="square" lIns="0" tIns="0" rIns="0" bIns="0" rtlCol="0" anchor="ctr"/>
          <a:lstStyle/>
          <a:p>
            <a:pPr algn="r" indent="0" marL="0">
              <a:buNone/>
            </a:pPr>
            <a:r>
              <a:rPr lang="en-US" sz="1200" b="1" dirty="0">
                <a:solidFill>
                  <a:srgbClr val="5F7079"/>
                </a:solidFill>
                <a:latin typeface="Calibri" pitchFamily="34" charset="0"/>
                <a:ea typeface="Calibri" pitchFamily="34" charset="-122"/>
                <a:cs typeface="Calibri"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0972800" cy="274320"/>
          </a:xfrm>
          <a:prstGeom prst="rect">
            <a:avLst/>
          </a:prstGeom>
          <a:noFill/>
          <a:ln/>
        </p:spPr>
        <p:txBody>
          <a:bodyPr wrap="square" lIns="0" tIns="0" rIns="0" bIns="0" rtlCol="0" anchor="ctr"/>
          <a:lstStyle/>
          <a:p>
            <a:pPr indent="0" marL="0">
              <a:buNone/>
            </a:pPr>
            <a:r>
              <a:rPr lang="en-US" sz="1300" b="1" spc="200" kern="0" dirty="0">
                <a:solidFill>
                  <a:srgbClr val="0E7C86"/>
                </a:solidFill>
                <a:latin typeface="Calibri" pitchFamily="34" charset="0"/>
                <a:ea typeface="Calibri" pitchFamily="34" charset="-122"/>
                <a:cs typeface="Calibri" pitchFamily="34" charset="-120"/>
              </a:rPr>
              <a:t>1. PROJECT IDEA</a:t>
            </a:r>
            <a:endParaRPr lang="en-US" sz="13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What I am building and why</a:t>
            </a:r>
            <a:endParaRPr lang="en-US" sz="3000" dirty="0"/>
          </a:p>
        </p:txBody>
      </p:sp>
      <p:sp>
        <p:nvSpPr>
          <p:cNvPr id="4" name="Shape 2"/>
          <p:cNvSpPr/>
          <p:nvPr/>
        </p:nvSpPr>
        <p:spPr>
          <a:xfrm>
            <a:off x="548640" y="1645920"/>
            <a:ext cx="5362956" cy="2148840"/>
          </a:xfrm>
          <a:prstGeom prst="roundRect">
            <a:avLst>
              <a:gd name="adj" fmla="val 3404"/>
            </a:avLst>
          </a:prstGeom>
          <a:solidFill>
            <a:srgbClr val="EAF4F4"/>
          </a:solidFill>
          <a:ln w="12700">
            <a:solidFill>
              <a:srgbClr val="D6DFE4"/>
            </a:solidFill>
            <a:prstDash val="solid"/>
          </a:ln>
        </p:spPr>
      </p:sp>
      <p:sp>
        <p:nvSpPr>
          <p:cNvPr id="5" name="Text 3"/>
          <p:cNvSpPr txBox="1"/>
          <p:nvPr/>
        </p:nvSpPr>
        <p:spPr>
          <a:xfrm>
            <a:off x="749808" y="1783080"/>
            <a:ext cx="4960620" cy="320040"/>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What I am building</a:t>
            </a:r>
            <a:endParaRPr lang="en-US" sz="1600" dirty="0"/>
          </a:p>
        </p:txBody>
      </p:sp>
      <p:sp>
        <p:nvSpPr>
          <p:cNvPr id="6" name="Text 4"/>
          <p:cNvSpPr txBox="1"/>
          <p:nvPr/>
        </p:nvSpPr>
        <p:spPr>
          <a:xfrm>
            <a:off x="749808" y="2194560"/>
            <a:ext cx="4960620" cy="1490472"/>
          </a:xfrm>
          <a:prstGeom prst="rect">
            <a:avLst/>
          </a:prstGeom>
          <a:noFill/>
          <a:ln/>
        </p:spPr>
        <p:txBody>
          <a:bodyPr wrap="square" lIns="0" tIns="0" rIns="0" bIns="0" rtlCol="0" anchor="t"/>
          <a:lstStyle/>
          <a:p>
            <a:pPr indent="0" marL="0">
              <a:lnSpc>
                <a:spcPct val="103000"/>
              </a:lnSpc>
              <a:buNone/>
            </a:pPr>
            <a:r>
              <a:rPr lang="en-US" sz="1400" b="1" dirty="0">
                <a:solidFill>
                  <a:srgbClr val="14232A"/>
                </a:solidFill>
                <a:latin typeface="Calibri" pitchFamily="34" charset="0"/>
                <a:ea typeface="Calibri" pitchFamily="34" charset="-122"/>
                <a:cs typeface="Calibri" pitchFamily="34" charset="-120"/>
              </a:rPr>
              <a:t>A machine-learning system, LeakWatch, that reads pressure from a few sensors on a water network. It detects a leak, localizes it (which pipe or area), and dispatches the nearest crew - a full detect-locate-respond pipeline.</a:t>
            </a:r>
            <a:endParaRPr lang="en-US" sz="1400" dirty="0"/>
          </a:p>
        </p:txBody>
      </p:sp>
      <p:sp>
        <p:nvSpPr>
          <p:cNvPr id="7" name="Shape 5"/>
          <p:cNvSpPr/>
          <p:nvPr/>
        </p:nvSpPr>
        <p:spPr>
          <a:xfrm>
            <a:off x="6277356" y="1645920"/>
            <a:ext cx="5362956" cy="2148840"/>
          </a:xfrm>
          <a:prstGeom prst="roundRect">
            <a:avLst>
              <a:gd name="adj" fmla="val 3404"/>
            </a:avLst>
          </a:prstGeom>
          <a:solidFill>
            <a:srgbClr val="EAF4F4"/>
          </a:solidFill>
          <a:ln w="12700">
            <a:solidFill>
              <a:srgbClr val="D6DFE4"/>
            </a:solidFill>
            <a:prstDash val="solid"/>
          </a:ln>
        </p:spPr>
      </p:sp>
      <p:sp>
        <p:nvSpPr>
          <p:cNvPr id="8" name="Text 6"/>
          <p:cNvSpPr txBox="1"/>
          <p:nvPr/>
        </p:nvSpPr>
        <p:spPr>
          <a:xfrm>
            <a:off x="6478524" y="1783080"/>
            <a:ext cx="4960620" cy="320040"/>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Why this problem?</a:t>
            </a:r>
            <a:endParaRPr lang="en-US" sz="1600" dirty="0"/>
          </a:p>
        </p:txBody>
      </p:sp>
      <p:sp>
        <p:nvSpPr>
          <p:cNvPr id="9" name="Text 7"/>
          <p:cNvSpPr txBox="1"/>
          <p:nvPr/>
        </p:nvSpPr>
        <p:spPr>
          <a:xfrm>
            <a:off x="6478524" y="2194560"/>
            <a:ext cx="4960620" cy="1490472"/>
          </a:xfrm>
          <a:prstGeom prst="rect">
            <a:avLst/>
          </a:prstGeom>
          <a:noFill/>
          <a:ln/>
        </p:spPr>
        <p:txBody>
          <a:bodyPr wrap="square" lIns="0" tIns="0" rIns="0" bIns="0" rtlCol="0" anchor="t"/>
          <a:lstStyle/>
          <a:p>
            <a:pPr indent="0" marL="0">
              <a:lnSpc>
                <a:spcPct val="103000"/>
              </a:lnSpc>
              <a:buNone/>
            </a:pPr>
            <a:r>
              <a:rPr lang="en-US" sz="1400" b="1" dirty="0">
                <a:solidFill>
                  <a:srgbClr val="14232A"/>
                </a:solidFill>
                <a:latin typeface="Calibri" pitchFamily="34" charset="0"/>
                <a:ea typeface="Calibri" pitchFamily="34" charset="-122"/>
                <a:cs typeface="Calibri" pitchFamily="34" charset="-120"/>
              </a:rPr>
              <a:t>Cities lose 30 to 50 percent of treated water to hidden underground leaks. Oklahoma City had over 1,100 main breaks last year, in old iron pipes and clay soil. Underground leaks are found late.</a:t>
            </a:r>
            <a:endParaRPr lang="en-US" sz="1400" dirty="0"/>
          </a:p>
        </p:txBody>
      </p:sp>
      <p:sp>
        <p:nvSpPr>
          <p:cNvPr id="10" name="Shape 8"/>
          <p:cNvSpPr/>
          <p:nvPr/>
        </p:nvSpPr>
        <p:spPr>
          <a:xfrm>
            <a:off x="548640" y="3931920"/>
            <a:ext cx="5362956" cy="2148840"/>
          </a:xfrm>
          <a:prstGeom prst="roundRect">
            <a:avLst>
              <a:gd name="adj" fmla="val 3404"/>
            </a:avLst>
          </a:prstGeom>
          <a:solidFill>
            <a:srgbClr val="F4F8F5"/>
          </a:solidFill>
          <a:ln w="12700">
            <a:solidFill>
              <a:srgbClr val="D6DFE4"/>
            </a:solidFill>
            <a:prstDash val="solid"/>
          </a:ln>
        </p:spPr>
      </p:sp>
      <p:sp>
        <p:nvSpPr>
          <p:cNvPr id="11" name="Text 9"/>
          <p:cNvSpPr txBox="1"/>
          <p:nvPr/>
        </p:nvSpPr>
        <p:spPr>
          <a:xfrm>
            <a:off x="749808" y="4069080"/>
            <a:ext cx="4960620" cy="320040"/>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Main contribution</a:t>
            </a:r>
            <a:endParaRPr lang="en-US" sz="1600" dirty="0"/>
          </a:p>
        </p:txBody>
      </p:sp>
      <p:sp>
        <p:nvSpPr>
          <p:cNvPr id="12" name="Text 10"/>
          <p:cNvSpPr txBox="1"/>
          <p:nvPr/>
        </p:nvSpPr>
        <p:spPr>
          <a:xfrm>
            <a:off x="749808" y="4480560"/>
            <a:ext cx="4960620" cy="1490472"/>
          </a:xfrm>
          <a:prstGeom prst="rect">
            <a:avLst/>
          </a:prstGeom>
          <a:noFill/>
          <a:ln/>
        </p:spPr>
        <p:txBody>
          <a:bodyPr wrap="square" lIns="0" tIns="0" rIns="0" bIns="0" rtlCol="0" anchor="t"/>
          <a:lstStyle/>
          <a:p>
            <a:pPr indent="0" marL="0">
              <a:lnSpc>
                <a:spcPct val="103000"/>
              </a:lnSpc>
              <a:buNone/>
            </a:pPr>
            <a:r>
              <a:rPr lang="en-US" sz="1400" b="1" dirty="0">
                <a:solidFill>
                  <a:srgbClr val="14232A"/>
                </a:solidFill>
                <a:latin typeface="Calibri" pitchFamily="34" charset="0"/>
                <a:ea typeface="Calibri" pitchFamily="34" charset="-122"/>
                <a:cs typeface="Calibri" pitchFamily="34" charset="-120"/>
              </a:rPr>
              <a:t>My own work is the residual feature, the detection and localization models, and the crew-dispatch step. Most leak-detection research stops at 'found it' - the response layer is my addition.</a:t>
            </a:r>
            <a:endParaRPr lang="en-US" sz="1400" dirty="0"/>
          </a:p>
        </p:txBody>
      </p:sp>
      <p:sp>
        <p:nvSpPr>
          <p:cNvPr id="13" name="Shape 11"/>
          <p:cNvSpPr/>
          <p:nvPr/>
        </p:nvSpPr>
        <p:spPr>
          <a:xfrm>
            <a:off x="6277356" y="3931920"/>
            <a:ext cx="5362956" cy="2148840"/>
          </a:xfrm>
          <a:prstGeom prst="roundRect">
            <a:avLst>
              <a:gd name="adj" fmla="val 3404"/>
            </a:avLst>
          </a:prstGeom>
          <a:solidFill>
            <a:srgbClr val="F4F8F5"/>
          </a:solidFill>
          <a:ln w="12700">
            <a:solidFill>
              <a:srgbClr val="D6DFE4"/>
            </a:solidFill>
            <a:prstDash val="solid"/>
          </a:ln>
        </p:spPr>
      </p:sp>
      <p:sp>
        <p:nvSpPr>
          <p:cNvPr id="14" name="Text 12"/>
          <p:cNvSpPr txBox="1"/>
          <p:nvPr/>
        </p:nvSpPr>
        <p:spPr>
          <a:xfrm>
            <a:off x="6478524" y="4069080"/>
            <a:ext cx="4960620" cy="320040"/>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Research question</a:t>
            </a:r>
            <a:endParaRPr lang="en-US" sz="1600" dirty="0"/>
          </a:p>
        </p:txBody>
      </p:sp>
      <p:sp>
        <p:nvSpPr>
          <p:cNvPr id="15" name="Text 13"/>
          <p:cNvSpPr txBox="1"/>
          <p:nvPr/>
        </p:nvSpPr>
        <p:spPr>
          <a:xfrm>
            <a:off x="6478524" y="4480560"/>
            <a:ext cx="4960620" cy="1490472"/>
          </a:xfrm>
          <a:prstGeom prst="rect">
            <a:avLst/>
          </a:prstGeom>
          <a:noFill/>
          <a:ln/>
        </p:spPr>
        <p:txBody>
          <a:bodyPr wrap="square" lIns="0" tIns="0" rIns="0" bIns="0" rtlCol="0" anchor="t"/>
          <a:lstStyle/>
          <a:p>
            <a:pPr indent="0" marL="0">
              <a:lnSpc>
                <a:spcPct val="103000"/>
              </a:lnSpc>
              <a:buNone/>
            </a:pPr>
            <a:r>
              <a:rPr lang="en-US" sz="1400" b="1" dirty="0">
                <a:solidFill>
                  <a:srgbClr val="14232A"/>
                </a:solidFill>
                <a:latin typeface="Calibri" pitchFamily="34" charset="0"/>
                <a:ea typeface="Calibri" pitchFamily="34" charset="-122"/>
                <a:cs typeface="Calibri" pitchFamily="34" charset="-120"/>
              </a:rPr>
              <a:t>Can machine learning detect and locate leaks from only a few pressure sensors, and route the nearest crew - using simulated data validated against a real benchmark?</a:t>
            </a:r>
            <a:endParaRPr lang="en-US" sz="1400" dirty="0"/>
          </a:p>
        </p:txBody>
      </p:sp>
      <p:sp>
        <p:nvSpPr>
          <p:cNvPr id="17" name="Shape 14"/>
          <p:cNvSpPr/>
          <p:nvPr/>
        </p:nvSpPr>
        <p:spPr>
          <a:xfrm>
            <a:off x="548640" y="6382512"/>
            <a:ext cx="11091672" cy="0"/>
          </a:xfrm>
          <a:prstGeom prst="line">
            <a:avLst/>
          </a:prstGeom>
          <a:noFill/>
          <a:ln w="12700">
            <a:solidFill>
              <a:srgbClr val="D6DFE4"/>
            </a:solidFill>
            <a:prstDash val="solid"/>
          </a:ln>
        </p:spPr>
      </p:sp>
      <p:sp>
        <p:nvSpPr>
          <p:cNvPr id="18" name="Text 15"/>
          <p:cNvSpPr txBox="1"/>
          <p:nvPr/>
        </p:nvSpPr>
        <p:spPr>
          <a:xfrm>
            <a:off x="10881360" y="6400800"/>
            <a:ext cx="758952" cy="274320"/>
          </a:xfrm>
          <a:prstGeom prst="rect">
            <a:avLst/>
          </a:prstGeom>
          <a:noFill/>
          <a:ln/>
        </p:spPr>
        <p:txBody>
          <a:bodyPr wrap="square" lIns="0" tIns="0" rIns="0" bIns="0" rtlCol="0" anchor="ctr"/>
          <a:lstStyle/>
          <a:p>
            <a:pPr algn="r" indent="0" marL="0">
              <a:buNone/>
            </a:pPr>
            <a:r>
              <a:rPr lang="en-US" sz="1200" b="1" dirty="0">
                <a:solidFill>
                  <a:srgbClr val="5F7079"/>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0972800" cy="274320"/>
          </a:xfrm>
          <a:prstGeom prst="rect">
            <a:avLst/>
          </a:prstGeom>
          <a:noFill/>
          <a:ln/>
        </p:spPr>
        <p:txBody>
          <a:bodyPr wrap="square" lIns="0" tIns="0" rIns="0" bIns="0" rtlCol="0" anchor="ctr"/>
          <a:lstStyle/>
          <a:p>
            <a:pPr indent="0" marL="0">
              <a:buNone/>
            </a:pPr>
            <a:r>
              <a:rPr lang="en-US" sz="1300" b="1" spc="200" kern="0" dirty="0">
                <a:solidFill>
                  <a:srgbClr val="0E7C86"/>
                </a:solidFill>
                <a:latin typeface="Calibri" pitchFamily="34" charset="0"/>
                <a:ea typeface="Calibri" pitchFamily="34" charset="-122"/>
                <a:cs typeface="Calibri" pitchFamily="34" charset="-120"/>
              </a:rPr>
              <a:t>2. PROJECT DESCRIPTION</a:t>
            </a:r>
            <a:endParaRPr lang="en-US" sz="13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Problem  -&gt;  Method  -&gt;  Evaluation</a:t>
            </a:r>
            <a:endParaRPr lang="en-US" sz="3000" dirty="0"/>
          </a:p>
        </p:txBody>
      </p:sp>
      <p:sp>
        <p:nvSpPr>
          <p:cNvPr id="4" name="Shape 2"/>
          <p:cNvSpPr/>
          <p:nvPr/>
        </p:nvSpPr>
        <p:spPr>
          <a:xfrm>
            <a:off x="548640" y="1645920"/>
            <a:ext cx="3453384" cy="2103120"/>
          </a:xfrm>
          <a:prstGeom prst="roundRect">
            <a:avLst>
              <a:gd name="adj" fmla="val 3478"/>
            </a:avLst>
          </a:prstGeom>
          <a:solidFill>
            <a:srgbClr val="EAF4F4"/>
          </a:solidFill>
          <a:ln w="12700">
            <a:solidFill>
              <a:srgbClr val="D6DFE4"/>
            </a:solidFill>
            <a:prstDash val="solid"/>
          </a:ln>
        </p:spPr>
      </p:sp>
      <p:sp>
        <p:nvSpPr>
          <p:cNvPr id="5" name="Text 3"/>
          <p:cNvSpPr txBox="1"/>
          <p:nvPr/>
        </p:nvSpPr>
        <p:spPr>
          <a:xfrm>
            <a:off x="749808" y="1783080"/>
            <a:ext cx="3051048" cy="320040"/>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Problem</a:t>
            </a:r>
            <a:endParaRPr lang="en-US" sz="1600" dirty="0"/>
          </a:p>
        </p:txBody>
      </p:sp>
      <p:sp>
        <p:nvSpPr>
          <p:cNvPr id="6" name="Text 4"/>
          <p:cNvSpPr txBox="1"/>
          <p:nvPr/>
        </p:nvSpPr>
        <p:spPr>
          <a:xfrm>
            <a:off x="749808" y="2194560"/>
            <a:ext cx="3051048" cy="1444752"/>
          </a:xfrm>
          <a:prstGeom prst="rect">
            <a:avLst/>
          </a:prstGeom>
          <a:noFill/>
          <a:ln/>
        </p:spPr>
        <p:txBody>
          <a:bodyPr wrap="square" lIns="0" tIns="0" rIns="0" bIns="0" rtlCol="0" anchor="t"/>
          <a:lstStyle/>
          <a:p>
            <a:pPr indent="0" marL="0">
              <a:lnSpc>
                <a:spcPct val="103000"/>
              </a:lnSpc>
              <a:buNone/>
            </a:pPr>
            <a:r>
              <a:rPr lang="en-US" sz="1400" b="1" dirty="0">
                <a:solidFill>
                  <a:srgbClr val="14232A"/>
                </a:solidFill>
                <a:latin typeface="Calibri" pitchFamily="34" charset="0"/>
                <a:ea typeface="Calibri" pitchFamily="34" charset="-122"/>
                <a:cs typeface="Calibri" pitchFamily="34" charset="-120"/>
              </a:rPr>
              <a:t>Only a few sensors watch hundreds of pipes, so a leak must be inferred from limited readings - and caught quickly, before it wastes water and floods roads.</a:t>
            </a:r>
            <a:endParaRPr lang="en-US" sz="1400" dirty="0"/>
          </a:p>
        </p:txBody>
      </p:sp>
      <p:sp>
        <p:nvSpPr>
          <p:cNvPr id="7" name="Shape 5"/>
          <p:cNvSpPr/>
          <p:nvPr/>
        </p:nvSpPr>
        <p:spPr>
          <a:xfrm>
            <a:off x="4367784" y="1645920"/>
            <a:ext cx="3453384" cy="2103120"/>
          </a:xfrm>
          <a:prstGeom prst="roundRect">
            <a:avLst>
              <a:gd name="adj" fmla="val 3478"/>
            </a:avLst>
          </a:prstGeom>
          <a:solidFill>
            <a:srgbClr val="EAF4F4"/>
          </a:solidFill>
          <a:ln w="12700">
            <a:solidFill>
              <a:srgbClr val="D6DFE4"/>
            </a:solidFill>
            <a:prstDash val="solid"/>
          </a:ln>
        </p:spPr>
      </p:sp>
      <p:sp>
        <p:nvSpPr>
          <p:cNvPr id="8" name="Text 6"/>
          <p:cNvSpPr txBox="1"/>
          <p:nvPr/>
        </p:nvSpPr>
        <p:spPr>
          <a:xfrm>
            <a:off x="4568952" y="1783080"/>
            <a:ext cx="3051048" cy="320040"/>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Proposed method</a:t>
            </a:r>
            <a:endParaRPr lang="en-US" sz="1600" dirty="0"/>
          </a:p>
        </p:txBody>
      </p:sp>
      <p:sp>
        <p:nvSpPr>
          <p:cNvPr id="9" name="Text 7"/>
          <p:cNvSpPr txBox="1"/>
          <p:nvPr/>
        </p:nvSpPr>
        <p:spPr>
          <a:xfrm>
            <a:off x="4568952" y="2194560"/>
            <a:ext cx="3051048" cy="1444752"/>
          </a:xfrm>
          <a:prstGeom prst="rect">
            <a:avLst/>
          </a:prstGeom>
          <a:noFill/>
          <a:ln/>
        </p:spPr>
        <p:txBody>
          <a:bodyPr wrap="square" lIns="0" tIns="0" rIns="0" bIns="0" rtlCol="0" anchor="t"/>
          <a:lstStyle/>
          <a:p>
            <a:pPr indent="0" marL="0">
              <a:lnSpc>
                <a:spcPct val="103000"/>
              </a:lnSpc>
              <a:buNone/>
            </a:pPr>
            <a:r>
              <a:rPr lang="en-US" sz="1400" b="1" dirty="0">
                <a:solidFill>
                  <a:srgbClr val="14232A"/>
                </a:solidFill>
                <a:latin typeface="Calibri" pitchFamily="34" charset="0"/>
                <a:ea typeface="Calibri" pitchFamily="34" charset="-122"/>
                <a:cs typeface="Calibri" pitchFamily="34" charset="-120"/>
              </a:rPr>
              <a:t>Simulate leaks to build labeled data, turn readings into the residual signal, train a detection model and a localization model, and add a shortest-path dispatch step.</a:t>
            </a:r>
            <a:endParaRPr lang="en-US" sz="1400" dirty="0"/>
          </a:p>
        </p:txBody>
      </p:sp>
      <p:sp>
        <p:nvSpPr>
          <p:cNvPr id="10" name="Shape 8"/>
          <p:cNvSpPr/>
          <p:nvPr/>
        </p:nvSpPr>
        <p:spPr>
          <a:xfrm>
            <a:off x="8186928" y="1645920"/>
            <a:ext cx="3453384" cy="2103120"/>
          </a:xfrm>
          <a:prstGeom prst="roundRect">
            <a:avLst>
              <a:gd name="adj" fmla="val 3478"/>
            </a:avLst>
          </a:prstGeom>
          <a:solidFill>
            <a:srgbClr val="EAF4F4"/>
          </a:solidFill>
          <a:ln w="12700">
            <a:solidFill>
              <a:srgbClr val="D6DFE4"/>
            </a:solidFill>
            <a:prstDash val="solid"/>
          </a:ln>
        </p:spPr>
      </p:sp>
      <p:sp>
        <p:nvSpPr>
          <p:cNvPr id="11" name="Text 9"/>
          <p:cNvSpPr txBox="1"/>
          <p:nvPr/>
        </p:nvSpPr>
        <p:spPr>
          <a:xfrm>
            <a:off x="8388096" y="1783080"/>
            <a:ext cx="3051048" cy="320040"/>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Evaluation</a:t>
            </a:r>
            <a:endParaRPr lang="en-US" sz="1600" dirty="0"/>
          </a:p>
        </p:txBody>
      </p:sp>
      <p:sp>
        <p:nvSpPr>
          <p:cNvPr id="12" name="Text 10"/>
          <p:cNvSpPr txBox="1"/>
          <p:nvPr/>
        </p:nvSpPr>
        <p:spPr>
          <a:xfrm>
            <a:off x="8388096" y="2194560"/>
            <a:ext cx="3051048" cy="1444752"/>
          </a:xfrm>
          <a:prstGeom prst="rect">
            <a:avLst/>
          </a:prstGeom>
          <a:noFill/>
          <a:ln/>
        </p:spPr>
        <p:txBody>
          <a:bodyPr wrap="square" lIns="0" tIns="0" rIns="0" bIns="0" rtlCol="0" anchor="t"/>
          <a:lstStyle/>
          <a:p>
            <a:pPr indent="0" marL="0">
              <a:lnSpc>
                <a:spcPct val="103000"/>
              </a:lnSpc>
              <a:buNone/>
            </a:pPr>
            <a:r>
              <a:rPr lang="en-US" sz="1400" b="1" dirty="0">
                <a:solidFill>
                  <a:srgbClr val="14232A"/>
                </a:solidFill>
                <a:latin typeface="Calibri" pitchFamily="34" charset="0"/>
                <a:ea typeface="Calibri" pitchFamily="34" charset="-122"/>
                <a:cs typeface="Calibri" pitchFamily="34" charset="-120"/>
              </a:rPr>
              <a:t>Compare against a simple baseline. Measure detection accuracy, detection delay, localization error, and robustness when sensor noise is added.</a:t>
            </a:r>
            <a:endParaRPr lang="en-US" sz="1400" dirty="0"/>
          </a:p>
        </p:txBody>
      </p:sp>
      <p:sp>
        <p:nvSpPr>
          <p:cNvPr id="13" name="Shape 11"/>
          <p:cNvSpPr/>
          <p:nvPr/>
        </p:nvSpPr>
        <p:spPr>
          <a:xfrm>
            <a:off x="548640" y="4160520"/>
            <a:ext cx="11091672" cy="1645920"/>
          </a:xfrm>
          <a:prstGeom prst="roundRect">
            <a:avLst>
              <a:gd name="adj" fmla="val 4444"/>
            </a:avLst>
          </a:prstGeom>
          <a:solidFill>
            <a:srgbClr val="EAF4F4"/>
          </a:solidFill>
          <a:ln w="12700">
            <a:solidFill>
              <a:srgbClr val="D6DFE4"/>
            </a:solidFill>
            <a:prstDash val="solid"/>
          </a:ln>
        </p:spPr>
      </p:sp>
      <p:sp>
        <p:nvSpPr>
          <p:cNvPr id="14" name="Text 12"/>
          <p:cNvSpPr txBox="1"/>
          <p:nvPr/>
        </p:nvSpPr>
        <p:spPr>
          <a:xfrm>
            <a:off x="731520" y="4261104"/>
            <a:ext cx="10058400" cy="27432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The signal: residual</a:t>
            </a:r>
            <a:endParaRPr lang="en-US" sz="1500" dirty="0"/>
          </a:p>
        </p:txBody>
      </p:sp>
      <p:sp>
        <p:nvSpPr>
          <p:cNvPr id="15" name="Text 13"/>
          <p:cNvSpPr txBox="1"/>
          <p:nvPr/>
        </p:nvSpPr>
        <p:spPr>
          <a:xfrm>
            <a:off x="731520" y="4590288"/>
            <a:ext cx="10698480" cy="548640"/>
          </a:xfrm>
          <a:prstGeom prst="rect">
            <a:avLst/>
          </a:prstGeom>
          <a:noFill/>
          <a:ln/>
        </p:spPr>
        <p:txBody>
          <a:bodyPr wrap="square" lIns="0" tIns="0" rIns="0" bIns="0" rtlCol="0" anchor="ctr"/>
          <a:lstStyle/>
          <a:p>
            <a:pPr indent="0" marL="0">
              <a:lnSpc>
                <a:spcPct val="105000"/>
              </a:lnSpc>
              <a:buNone/>
            </a:pPr>
            <a:r>
              <a:rPr lang="en-US" sz="1400" b="1" dirty="0">
                <a:solidFill>
                  <a:srgbClr val="14232A"/>
                </a:solidFill>
                <a:latin typeface="Calibri" pitchFamily="34" charset="0"/>
                <a:ea typeface="Calibri" pitchFamily="34" charset="-122"/>
                <a:cs typeface="Calibri" pitchFamily="34" charset="-120"/>
              </a:rPr>
              <a:t>Raw pressure </a:t>
            </a:r>
            <a:pPr indent="0" marL="0">
              <a:lnSpc>
                <a:spcPct val="105000"/>
              </a:lnSpc>
              <a:buNone/>
            </a:pPr>
            <a:r>
              <a:rPr lang="en-US" sz="1400" b="1" dirty="0">
                <a:solidFill>
                  <a:srgbClr val="14232A"/>
                </a:solidFill>
                <a:latin typeface="Calibri" pitchFamily="34" charset="0"/>
                <a:ea typeface="Calibri" pitchFamily="34" charset="-122"/>
                <a:cs typeface="Calibri" pitchFamily="34" charset="-120"/>
              </a:rPr>
              <a:t>moves with daily demand, so a leak is hard to see. The </a:t>
            </a:r>
            <a:pPr indent="0" marL="0">
              <a:lnSpc>
                <a:spcPct val="105000"/>
              </a:lnSpc>
              <a:buNone/>
            </a:pPr>
            <a:r>
              <a:rPr lang="en-US" sz="1400" b="1" dirty="0">
                <a:solidFill>
                  <a:srgbClr val="14232A"/>
                </a:solidFill>
                <a:latin typeface="Calibri" pitchFamily="34" charset="0"/>
                <a:ea typeface="Calibri" pitchFamily="34" charset="-122"/>
                <a:cs typeface="Calibri" pitchFamily="34" charset="-120"/>
              </a:rPr>
              <a:t>residual </a:t>
            </a:r>
            <a:pPr indent="0" marL="0">
              <a:lnSpc>
                <a:spcPct val="105000"/>
              </a:lnSpc>
              <a:buNone/>
            </a:pPr>
            <a:r>
              <a:rPr lang="en-US" sz="1400" b="1" dirty="0">
                <a:solidFill>
                  <a:srgbClr val="14232A"/>
                </a:solidFill>
                <a:latin typeface="Calibri" pitchFamily="34" charset="0"/>
                <a:ea typeface="Calibri" pitchFamily="34" charset="-122"/>
                <a:cs typeface="Calibri" pitchFamily="34" charset="-120"/>
              </a:rPr>
              <a:t>removes that daily pattern, so the leak stands out.</a:t>
            </a:r>
            <a:endParaRPr lang="en-US" sz="1400" dirty="0"/>
          </a:p>
        </p:txBody>
      </p:sp>
      <p:sp>
        <p:nvSpPr>
          <p:cNvPr id="16" name="Text 14"/>
          <p:cNvSpPr txBox="1"/>
          <p:nvPr/>
        </p:nvSpPr>
        <p:spPr>
          <a:xfrm>
            <a:off x="731520" y="5230368"/>
            <a:ext cx="10515600" cy="365760"/>
          </a:xfrm>
          <a:prstGeom prst="rect">
            <a:avLst/>
          </a:prstGeom>
          <a:noFill/>
          <a:ln/>
        </p:spPr>
        <p:txBody>
          <a:bodyPr wrap="square" lIns="0" tIns="0" rIns="0" bIns="0" rtlCol="0" anchor="ctr"/>
          <a:lstStyle/>
          <a:p>
            <a:pPr indent="0" marL="0">
              <a:buNone/>
            </a:pPr>
            <a:r>
              <a:rPr lang="en-US" sz="1500" b="1" dirty="0">
                <a:solidFill>
                  <a:srgbClr val="13303A"/>
                </a:solidFill>
                <a:latin typeface="Calibri" pitchFamily="34" charset="0"/>
                <a:ea typeface="Calibri" pitchFamily="34" charset="-122"/>
                <a:cs typeface="Calibri" pitchFamily="34" charset="-120"/>
              </a:rPr>
              <a:t>Residual  =  Expected-normal pressure  -  Actual pressure</a:t>
            </a:r>
            <a:endParaRPr lang="en-US" sz="1500" dirty="0"/>
          </a:p>
        </p:txBody>
      </p:sp>
      <p:sp>
        <p:nvSpPr>
          <p:cNvPr id="18" name="Shape 15"/>
          <p:cNvSpPr/>
          <p:nvPr/>
        </p:nvSpPr>
        <p:spPr>
          <a:xfrm>
            <a:off x="548640" y="6382512"/>
            <a:ext cx="11091672" cy="0"/>
          </a:xfrm>
          <a:prstGeom prst="line">
            <a:avLst/>
          </a:prstGeom>
          <a:noFill/>
          <a:ln w="12700">
            <a:solidFill>
              <a:srgbClr val="D6DFE4"/>
            </a:solidFill>
            <a:prstDash val="solid"/>
          </a:ln>
        </p:spPr>
      </p:sp>
      <p:sp>
        <p:nvSpPr>
          <p:cNvPr id="19" name="Text 16"/>
          <p:cNvSpPr txBox="1"/>
          <p:nvPr/>
        </p:nvSpPr>
        <p:spPr>
          <a:xfrm>
            <a:off x="10881360" y="6400800"/>
            <a:ext cx="758952" cy="274320"/>
          </a:xfrm>
          <a:prstGeom prst="rect">
            <a:avLst/>
          </a:prstGeom>
          <a:noFill/>
          <a:ln/>
        </p:spPr>
        <p:txBody>
          <a:bodyPr wrap="square" lIns="0" tIns="0" rIns="0" bIns="0" rtlCol="0" anchor="ctr"/>
          <a:lstStyle/>
          <a:p>
            <a:pPr algn="r" indent="0" marL="0">
              <a:buNone/>
            </a:pPr>
            <a:r>
              <a:rPr lang="en-US" sz="1200" b="1" dirty="0">
                <a:solidFill>
                  <a:srgbClr val="5F7079"/>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0972800" cy="274320"/>
          </a:xfrm>
          <a:prstGeom prst="rect">
            <a:avLst/>
          </a:prstGeom>
          <a:noFill/>
          <a:ln/>
        </p:spPr>
        <p:txBody>
          <a:bodyPr wrap="square" lIns="0" tIns="0" rIns="0" bIns="0" rtlCol="0" anchor="ctr"/>
          <a:lstStyle/>
          <a:p>
            <a:pPr indent="0" marL="0">
              <a:buNone/>
            </a:pPr>
            <a:r>
              <a:rPr lang="en-US" sz="1300" b="1" spc="200" kern="0" dirty="0">
                <a:solidFill>
                  <a:srgbClr val="0E7C86"/>
                </a:solidFill>
                <a:latin typeface="Calibri" pitchFamily="34" charset="0"/>
                <a:ea typeface="Calibri" pitchFamily="34" charset="-122"/>
                <a:cs typeface="Calibri" pitchFamily="34" charset="-120"/>
              </a:rPr>
              <a:t>3. DEVELOPING ENVIRONMENT</a:t>
            </a:r>
            <a:endParaRPr lang="en-US" sz="13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Platform, tools, and the water network</a:t>
            </a:r>
            <a:endParaRPr lang="en-US" sz="3000" dirty="0"/>
          </a:p>
        </p:txBody>
      </p:sp>
      <p:sp>
        <p:nvSpPr>
          <p:cNvPr id="4" name="Shape 2"/>
          <p:cNvSpPr/>
          <p:nvPr/>
        </p:nvSpPr>
        <p:spPr>
          <a:xfrm>
            <a:off x="548640" y="1645920"/>
            <a:ext cx="3453384" cy="2103120"/>
          </a:xfrm>
          <a:prstGeom prst="roundRect">
            <a:avLst>
              <a:gd name="adj" fmla="val 3478"/>
            </a:avLst>
          </a:prstGeom>
          <a:solidFill>
            <a:srgbClr val="EAF4F4"/>
          </a:solidFill>
          <a:ln w="12700">
            <a:solidFill>
              <a:srgbClr val="D6DFE4"/>
            </a:solidFill>
            <a:prstDash val="solid"/>
          </a:ln>
        </p:spPr>
      </p:sp>
      <p:sp>
        <p:nvSpPr>
          <p:cNvPr id="5" name="Text 3"/>
          <p:cNvSpPr txBox="1"/>
          <p:nvPr/>
        </p:nvSpPr>
        <p:spPr>
          <a:xfrm>
            <a:off x="749808" y="1783080"/>
            <a:ext cx="3051048" cy="320040"/>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Platform</a:t>
            </a:r>
            <a:endParaRPr lang="en-US" sz="1600" dirty="0"/>
          </a:p>
        </p:txBody>
      </p:sp>
      <p:sp>
        <p:nvSpPr>
          <p:cNvPr id="6" name="Text 4"/>
          <p:cNvSpPr txBox="1"/>
          <p:nvPr/>
        </p:nvSpPr>
        <p:spPr>
          <a:xfrm>
            <a:off x="749808" y="2194560"/>
            <a:ext cx="3051048" cy="1444752"/>
          </a:xfrm>
          <a:prstGeom prst="rect">
            <a:avLst/>
          </a:prstGeom>
          <a:noFill/>
          <a:ln/>
        </p:spPr>
        <p:txBody>
          <a:bodyPr wrap="square" lIns="0" tIns="0" rIns="0" bIns="0" rtlCol="0" anchor="t"/>
          <a:lstStyle/>
          <a:p>
            <a:pPr indent="0" marL="0">
              <a:lnSpc>
                <a:spcPct val="103000"/>
              </a:lnSpc>
              <a:buNone/>
            </a:pPr>
            <a:r>
              <a:rPr lang="en-US" sz="1400" b="1" dirty="0">
                <a:solidFill>
                  <a:srgbClr val="14232A"/>
                </a:solidFill>
                <a:latin typeface="Calibri" pitchFamily="34" charset="0"/>
                <a:ea typeface="Calibri" pitchFamily="34" charset="-122"/>
                <a:cs typeface="Calibri" pitchFamily="34" charset="-120"/>
              </a:rPr>
              <a:t>Google Colab - a free cloud notebook for writing code, training, and running demos. Nothing to install locally.</a:t>
            </a:r>
            <a:endParaRPr lang="en-US" sz="1400" dirty="0"/>
          </a:p>
        </p:txBody>
      </p:sp>
      <p:sp>
        <p:nvSpPr>
          <p:cNvPr id="7" name="Shape 5"/>
          <p:cNvSpPr/>
          <p:nvPr/>
        </p:nvSpPr>
        <p:spPr>
          <a:xfrm>
            <a:off x="4367784" y="1645920"/>
            <a:ext cx="3453384" cy="2103120"/>
          </a:xfrm>
          <a:prstGeom prst="roundRect">
            <a:avLst>
              <a:gd name="adj" fmla="val 3478"/>
            </a:avLst>
          </a:prstGeom>
          <a:solidFill>
            <a:srgbClr val="EAF4F4"/>
          </a:solidFill>
          <a:ln w="12700">
            <a:solidFill>
              <a:srgbClr val="D6DFE4"/>
            </a:solidFill>
            <a:prstDash val="solid"/>
          </a:ln>
        </p:spPr>
      </p:sp>
      <p:sp>
        <p:nvSpPr>
          <p:cNvPr id="8" name="Text 6"/>
          <p:cNvSpPr txBox="1"/>
          <p:nvPr/>
        </p:nvSpPr>
        <p:spPr>
          <a:xfrm>
            <a:off x="4568952" y="1783080"/>
            <a:ext cx="3051048" cy="320040"/>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Tools</a:t>
            </a:r>
            <a:endParaRPr lang="en-US" sz="1600" dirty="0"/>
          </a:p>
        </p:txBody>
      </p:sp>
      <p:sp>
        <p:nvSpPr>
          <p:cNvPr id="9" name="Text 7"/>
          <p:cNvSpPr txBox="1"/>
          <p:nvPr/>
        </p:nvSpPr>
        <p:spPr>
          <a:xfrm>
            <a:off x="4568952" y="2194560"/>
            <a:ext cx="3051048" cy="1444752"/>
          </a:xfrm>
          <a:prstGeom prst="rect">
            <a:avLst/>
          </a:prstGeom>
          <a:noFill/>
          <a:ln/>
        </p:spPr>
        <p:txBody>
          <a:bodyPr wrap="square" lIns="0" tIns="0" rIns="0" bIns="0" rtlCol="0" anchor="t"/>
          <a:lstStyle/>
          <a:p>
            <a:pPr indent="0" marL="0">
              <a:lnSpc>
                <a:spcPct val="103000"/>
              </a:lnSpc>
              <a:buNone/>
            </a:pPr>
            <a:r>
              <a:rPr lang="en-US" sz="1400" b="1" dirty="0">
                <a:solidFill>
                  <a:srgbClr val="14232A"/>
                </a:solidFill>
                <a:latin typeface="Calibri" pitchFamily="34" charset="0"/>
                <a:ea typeface="Calibri" pitchFamily="34" charset="-122"/>
                <a:cs typeface="Calibri" pitchFamily="34" charset="-120"/>
              </a:rPr>
              <a:t>Python, with WNTR + EPANET (data), pandas &amp; NumPy (handle data), scikit-learn (models), NetworkX (routing), Matplotlib (charts). Code on GitHub.</a:t>
            </a:r>
            <a:endParaRPr lang="en-US" sz="1400" dirty="0"/>
          </a:p>
        </p:txBody>
      </p:sp>
      <p:sp>
        <p:nvSpPr>
          <p:cNvPr id="10" name="Shape 8"/>
          <p:cNvSpPr/>
          <p:nvPr/>
        </p:nvSpPr>
        <p:spPr>
          <a:xfrm>
            <a:off x="8186928" y="1645920"/>
            <a:ext cx="3453384" cy="2103120"/>
          </a:xfrm>
          <a:prstGeom prst="roundRect">
            <a:avLst>
              <a:gd name="adj" fmla="val 3478"/>
            </a:avLst>
          </a:prstGeom>
          <a:solidFill>
            <a:srgbClr val="EAF4F4"/>
          </a:solidFill>
          <a:ln w="12700">
            <a:solidFill>
              <a:srgbClr val="D6DFE4"/>
            </a:solidFill>
            <a:prstDash val="solid"/>
          </a:ln>
        </p:spPr>
      </p:sp>
      <p:sp>
        <p:nvSpPr>
          <p:cNvPr id="11" name="Text 9"/>
          <p:cNvSpPr txBox="1"/>
          <p:nvPr/>
        </p:nvSpPr>
        <p:spPr>
          <a:xfrm>
            <a:off x="8388096" y="1783080"/>
            <a:ext cx="3051048" cy="320040"/>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The water network</a:t>
            </a:r>
            <a:endParaRPr lang="en-US" sz="1600" dirty="0"/>
          </a:p>
        </p:txBody>
      </p:sp>
      <p:sp>
        <p:nvSpPr>
          <p:cNvPr id="12" name="Text 10"/>
          <p:cNvSpPr txBox="1"/>
          <p:nvPr/>
        </p:nvSpPr>
        <p:spPr>
          <a:xfrm>
            <a:off x="8388096" y="2194560"/>
            <a:ext cx="3051048" cy="1444752"/>
          </a:xfrm>
          <a:prstGeom prst="rect">
            <a:avLst/>
          </a:prstGeom>
          <a:noFill/>
          <a:ln/>
        </p:spPr>
        <p:txBody>
          <a:bodyPr wrap="square" lIns="0" tIns="0" rIns="0" bIns="0" rtlCol="0" anchor="t"/>
          <a:lstStyle/>
          <a:p>
            <a:pPr indent="0" marL="0">
              <a:lnSpc>
                <a:spcPct val="103000"/>
              </a:lnSpc>
              <a:buNone/>
            </a:pPr>
            <a:r>
              <a:rPr lang="en-US" sz="1400" b="1" dirty="0">
                <a:solidFill>
                  <a:srgbClr val="14232A"/>
                </a:solidFill>
                <a:latin typeface="Calibri" pitchFamily="34" charset="0"/>
                <a:ea typeface="Calibri" pitchFamily="34" charset="-122"/>
                <a:cs typeface="Calibri" pitchFamily="34" charset="-120"/>
              </a:rPr>
              <a:t>Net3, a standard EPANET benchmark of pipes, junctions, tanks, and pumps. I run it through WNTR and inject leaks.</a:t>
            </a:r>
            <a:endParaRPr lang="en-US" sz="1400" dirty="0"/>
          </a:p>
        </p:txBody>
      </p:sp>
      <p:sp>
        <p:nvSpPr>
          <p:cNvPr id="13" name="Shape 11"/>
          <p:cNvSpPr/>
          <p:nvPr/>
        </p:nvSpPr>
        <p:spPr>
          <a:xfrm>
            <a:off x="548640" y="4114800"/>
            <a:ext cx="11091672" cy="1691640"/>
          </a:xfrm>
          <a:prstGeom prst="roundRect">
            <a:avLst>
              <a:gd name="adj" fmla="val 4324"/>
            </a:avLst>
          </a:prstGeom>
          <a:solidFill>
            <a:srgbClr val="F4F8F5"/>
          </a:solidFill>
          <a:ln w="12700">
            <a:solidFill>
              <a:srgbClr val="D6DFE4"/>
            </a:solidFill>
            <a:prstDash val="solid"/>
          </a:ln>
        </p:spPr>
      </p:sp>
      <p:sp>
        <p:nvSpPr>
          <p:cNvPr id="14" name="Text 12"/>
          <p:cNvSpPr txBox="1"/>
          <p:nvPr/>
        </p:nvSpPr>
        <p:spPr>
          <a:xfrm>
            <a:off x="731520" y="4224528"/>
            <a:ext cx="10058400" cy="27432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Development progression</a:t>
            </a:r>
            <a:endParaRPr lang="en-US" sz="1500" dirty="0"/>
          </a:p>
        </p:txBody>
      </p:sp>
      <p:sp>
        <p:nvSpPr>
          <p:cNvPr id="15" name="Text 13"/>
          <p:cNvSpPr txBox="1"/>
          <p:nvPr/>
        </p:nvSpPr>
        <p:spPr>
          <a:xfrm>
            <a:off x="731520" y="4572000"/>
            <a:ext cx="10698480" cy="1097280"/>
          </a:xfrm>
          <a:prstGeom prst="rect">
            <a:avLst/>
          </a:prstGeom>
          <a:noFill/>
          <a:ln/>
        </p:spPr>
        <p:txBody>
          <a:bodyPr wrap="square" lIns="0" tIns="0" rIns="0" bIns="0" rtlCol="0" anchor="ctr"/>
          <a:lstStyle/>
          <a:p>
            <a:pPr indent="0" marL="0">
              <a:lnSpc>
                <a:spcPct val="120000"/>
              </a:lnSpc>
              <a:buNone/>
            </a:pPr>
            <a:r>
              <a:rPr lang="en-US" sz="1400" b="1" dirty="0">
                <a:solidFill>
                  <a:srgbClr val="14232A"/>
                </a:solidFill>
                <a:latin typeface="Calibri" pitchFamily="34" charset="0"/>
                <a:ea typeface="Calibri" pitchFamily="34" charset="-122"/>
                <a:cs typeface="Calibri" pitchFamily="34" charset="-120"/>
              </a:rPr>
              <a:t>1)  </a:t>
            </a:r>
            <a:pPr indent="0" marL="0">
              <a:lnSpc>
                <a:spcPct val="120000"/>
              </a:lnSpc>
              <a:buNone/>
            </a:pPr>
            <a:r>
              <a:rPr lang="en-US" sz="1400" b="1" dirty="0">
                <a:solidFill>
                  <a:srgbClr val="14232A"/>
                </a:solidFill>
                <a:latin typeface="Calibri" pitchFamily="34" charset="0"/>
                <a:ea typeface="Calibri" pitchFamily="34" charset="-122"/>
                <a:cs typeface="Calibri" pitchFamily="34" charset="-120"/>
              </a:rPr>
              <a:t>Net3 for setup and prototyping      </a:t>
            </a:r>
            <a:pPr indent="0" marL="0">
              <a:lnSpc>
                <a:spcPct val="120000"/>
              </a:lnSpc>
              <a:buNone/>
            </a:pPr>
            <a:r>
              <a:rPr lang="en-US" sz="1400" b="1" dirty="0">
                <a:solidFill>
                  <a:srgbClr val="14232A"/>
                </a:solidFill>
                <a:latin typeface="Calibri" pitchFamily="34" charset="0"/>
                <a:ea typeface="Calibri" pitchFamily="34" charset="-122"/>
                <a:cs typeface="Calibri" pitchFamily="34" charset="-120"/>
              </a:rPr>
              <a:t>2)  </a:t>
            </a:r>
            <a:pPr indent="0" marL="0">
              <a:lnSpc>
                <a:spcPct val="120000"/>
              </a:lnSpc>
              <a:buNone/>
            </a:pPr>
            <a:r>
              <a:rPr lang="en-US" sz="1400" b="1" dirty="0">
                <a:solidFill>
                  <a:srgbClr val="14232A"/>
                </a:solidFill>
                <a:latin typeface="Calibri" pitchFamily="34" charset="0"/>
                <a:ea typeface="Calibri" pitchFamily="34" charset="-122"/>
                <a:cs typeface="Calibri" pitchFamily="34" charset="-120"/>
              </a:rPr>
              <a:t>many leak scenarios for the main dataset      </a:t>
            </a:r>
            <a:pPr indent="0" marL="0">
              <a:lnSpc>
                <a:spcPct val="120000"/>
              </a:lnSpc>
              <a:buNone/>
            </a:pPr>
            <a:r>
              <a:rPr lang="en-US" sz="1400" b="1" dirty="0">
                <a:solidFill>
                  <a:srgbClr val="14232A"/>
                </a:solidFill>
                <a:latin typeface="Calibri" pitchFamily="34" charset="0"/>
                <a:ea typeface="Calibri" pitchFamily="34" charset="-122"/>
                <a:cs typeface="Calibri" pitchFamily="34" charset="-120"/>
              </a:rPr>
              <a:t>3)  </a:t>
            </a:r>
            <a:pPr indent="0" marL="0">
              <a:lnSpc>
                <a:spcPct val="120000"/>
              </a:lnSpc>
              <a:buNone/>
            </a:pPr>
            <a:r>
              <a:rPr lang="en-US" sz="1400" b="1" dirty="0">
                <a:solidFill>
                  <a:srgbClr val="14232A"/>
                </a:solidFill>
                <a:latin typeface="Calibri" pitchFamily="34" charset="0"/>
                <a:ea typeface="Calibri" pitchFamily="34" charset="-122"/>
                <a:cs typeface="Calibri" pitchFamily="34" charset="-120"/>
              </a:rPr>
              <a:t>the larger L-Town network and BattLeDIM for realism.</a:t>
            </a:r>
            <a:endParaRPr lang="en-US" sz="1400" dirty="0"/>
          </a:p>
        </p:txBody>
      </p:sp>
      <p:sp>
        <p:nvSpPr>
          <p:cNvPr id="17" name="Shape 14"/>
          <p:cNvSpPr/>
          <p:nvPr/>
        </p:nvSpPr>
        <p:spPr>
          <a:xfrm>
            <a:off x="548640" y="6382512"/>
            <a:ext cx="11091672" cy="0"/>
          </a:xfrm>
          <a:prstGeom prst="line">
            <a:avLst/>
          </a:prstGeom>
          <a:noFill/>
          <a:ln w="12700">
            <a:solidFill>
              <a:srgbClr val="D6DFE4"/>
            </a:solidFill>
            <a:prstDash val="solid"/>
          </a:ln>
        </p:spPr>
      </p:sp>
      <p:sp>
        <p:nvSpPr>
          <p:cNvPr id="18" name="Text 15"/>
          <p:cNvSpPr txBox="1"/>
          <p:nvPr/>
        </p:nvSpPr>
        <p:spPr>
          <a:xfrm>
            <a:off x="10881360" y="6400800"/>
            <a:ext cx="758952" cy="274320"/>
          </a:xfrm>
          <a:prstGeom prst="rect">
            <a:avLst/>
          </a:prstGeom>
          <a:noFill/>
          <a:ln/>
        </p:spPr>
        <p:txBody>
          <a:bodyPr wrap="square" lIns="0" tIns="0" rIns="0" bIns="0" rtlCol="0" anchor="ctr"/>
          <a:lstStyle/>
          <a:p>
            <a:pPr algn="r" indent="0" marL="0">
              <a:buNone/>
            </a:pPr>
            <a:r>
              <a:rPr lang="en-US" sz="1200" b="1" dirty="0">
                <a:solidFill>
                  <a:srgbClr val="5F7079"/>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0972800" cy="274320"/>
          </a:xfrm>
          <a:prstGeom prst="rect">
            <a:avLst/>
          </a:prstGeom>
          <a:noFill/>
          <a:ln/>
        </p:spPr>
        <p:txBody>
          <a:bodyPr wrap="square" lIns="0" tIns="0" rIns="0" bIns="0" rtlCol="0" anchor="ctr"/>
          <a:lstStyle/>
          <a:p>
            <a:pPr indent="0" marL="0">
              <a:buNone/>
            </a:pPr>
            <a:r>
              <a:rPr lang="en-US" sz="1300" b="1" spc="200" kern="0" dirty="0">
                <a:solidFill>
                  <a:srgbClr val="0E7C86"/>
                </a:solidFill>
                <a:latin typeface="Calibri" pitchFamily="34" charset="0"/>
                <a:ea typeface="Calibri" pitchFamily="34" charset="-122"/>
                <a:cs typeface="Calibri" pitchFamily="34" charset="-120"/>
              </a:rPr>
              <a:t>4. INITIAL DESIGN</a:t>
            </a:r>
            <a:endParaRPr lang="en-US" sz="13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System architecture and data flow</a:t>
            </a:r>
            <a:endParaRPr lang="en-US" sz="3000" dirty="0"/>
          </a:p>
        </p:txBody>
      </p:sp>
      <p:sp>
        <p:nvSpPr>
          <p:cNvPr id="4" name="Shape 2"/>
          <p:cNvSpPr/>
          <p:nvPr/>
        </p:nvSpPr>
        <p:spPr>
          <a:xfrm>
            <a:off x="548640" y="1645920"/>
            <a:ext cx="3453384" cy="1783080"/>
          </a:xfrm>
          <a:prstGeom prst="roundRect">
            <a:avLst>
              <a:gd name="adj" fmla="val 4103"/>
            </a:avLst>
          </a:prstGeom>
          <a:solidFill>
            <a:srgbClr val="EAF4F4"/>
          </a:solidFill>
          <a:ln w="12700">
            <a:solidFill>
              <a:srgbClr val="D6DFE4"/>
            </a:solidFill>
            <a:prstDash val="solid"/>
          </a:ln>
        </p:spPr>
      </p:sp>
      <p:sp>
        <p:nvSpPr>
          <p:cNvPr id="5" name="Text 3"/>
          <p:cNvSpPr txBox="1"/>
          <p:nvPr/>
        </p:nvSpPr>
        <p:spPr>
          <a:xfrm>
            <a:off x="749808" y="1783080"/>
            <a:ext cx="3051048" cy="320040"/>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Simulation (EPANET / WNTR)</a:t>
            </a:r>
            <a:endParaRPr lang="en-US" sz="1600" dirty="0"/>
          </a:p>
        </p:txBody>
      </p:sp>
      <p:sp>
        <p:nvSpPr>
          <p:cNvPr id="6" name="Text 4"/>
          <p:cNvSpPr txBox="1"/>
          <p:nvPr/>
        </p:nvSpPr>
        <p:spPr>
          <a:xfrm>
            <a:off x="749808" y="2194560"/>
            <a:ext cx="3051048" cy="1124712"/>
          </a:xfrm>
          <a:prstGeom prst="rect">
            <a:avLst/>
          </a:prstGeom>
          <a:noFill/>
          <a:ln/>
        </p:spPr>
        <p:txBody>
          <a:bodyPr wrap="square" lIns="0" tIns="0" rIns="0" bIns="0" rtlCol="0" anchor="t"/>
          <a:lstStyle/>
          <a:p>
            <a:pPr indent="0" marL="0">
              <a:lnSpc>
                <a:spcPct val="103000"/>
              </a:lnSpc>
              <a:buNone/>
            </a:pPr>
            <a:r>
              <a:rPr lang="en-US" sz="1400" b="1" dirty="0">
                <a:solidFill>
                  <a:srgbClr val="14232A"/>
                </a:solidFill>
                <a:latin typeface="Calibri" pitchFamily="34" charset="0"/>
                <a:ea typeface="Calibri" pitchFamily="34" charset="-122"/>
                <a:cs typeface="Calibri" pitchFamily="34" charset="-120"/>
              </a:rPr>
              <a:t>Creates the network, injects leaks, and produces the pressure readings - with the true leak location known.</a:t>
            </a:r>
            <a:endParaRPr lang="en-US" sz="1400" dirty="0"/>
          </a:p>
        </p:txBody>
      </p:sp>
      <p:sp>
        <p:nvSpPr>
          <p:cNvPr id="7" name="Shape 5"/>
          <p:cNvSpPr/>
          <p:nvPr/>
        </p:nvSpPr>
        <p:spPr>
          <a:xfrm>
            <a:off x="4367784" y="1645920"/>
            <a:ext cx="3453384" cy="1783080"/>
          </a:xfrm>
          <a:prstGeom prst="roundRect">
            <a:avLst>
              <a:gd name="adj" fmla="val 4103"/>
            </a:avLst>
          </a:prstGeom>
          <a:solidFill>
            <a:srgbClr val="EAF4F4"/>
          </a:solidFill>
          <a:ln w="12700">
            <a:solidFill>
              <a:srgbClr val="D6DFE4"/>
            </a:solidFill>
            <a:prstDash val="solid"/>
          </a:ln>
        </p:spPr>
      </p:sp>
      <p:sp>
        <p:nvSpPr>
          <p:cNvPr id="8" name="Text 6"/>
          <p:cNvSpPr txBox="1"/>
          <p:nvPr/>
        </p:nvSpPr>
        <p:spPr>
          <a:xfrm>
            <a:off x="4568952" y="1783080"/>
            <a:ext cx="3051048" cy="320040"/>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ML models (scikit-learn)</a:t>
            </a:r>
            <a:endParaRPr lang="en-US" sz="1600" dirty="0"/>
          </a:p>
        </p:txBody>
      </p:sp>
      <p:sp>
        <p:nvSpPr>
          <p:cNvPr id="9" name="Text 7"/>
          <p:cNvSpPr txBox="1"/>
          <p:nvPr/>
        </p:nvSpPr>
        <p:spPr>
          <a:xfrm>
            <a:off x="4568952" y="2194560"/>
            <a:ext cx="3051048" cy="1124712"/>
          </a:xfrm>
          <a:prstGeom prst="rect">
            <a:avLst/>
          </a:prstGeom>
          <a:noFill/>
          <a:ln/>
        </p:spPr>
        <p:txBody>
          <a:bodyPr wrap="square" lIns="0" tIns="0" rIns="0" bIns="0" rtlCol="0" anchor="t"/>
          <a:lstStyle/>
          <a:p>
            <a:pPr indent="0" marL="0">
              <a:lnSpc>
                <a:spcPct val="103000"/>
              </a:lnSpc>
              <a:buNone/>
            </a:pPr>
            <a:r>
              <a:rPr lang="en-US" sz="1400" b="1" dirty="0">
                <a:solidFill>
                  <a:srgbClr val="14232A"/>
                </a:solidFill>
                <a:latin typeface="Calibri" pitchFamily="34" charset="0"/>
                <a:ea typeface="Calibri" pitchFamily="34" charset="-122"/>
                <a:cs typeface="Calibri" pitchFamily="34" charset="-120"/>
              </a:rPr>
              <a:t>One model answers 'is there a leak?'; a second answers 'which node is it at?' from the pattern of drops.</a:t>
            </a:r>
            <a:endParaRPr lang="en-US" sz="1400" dirty="0"/>
          </a:p>
        </p:txBody>
      </p:sp>
      <p:sp>
        <p:nvSpPr>
          <p:cNvPr id="10" name="Shape 8"/>
          <p:cNvSpPr/>
          <p:nvPr/>
        </p:nvSpPr>
        <p:spPr>
          <a:xfrm>
            <a:off x="8186928" y="1645920"/>
            <a:ext cx="3453384" cy="1783080"/>
          </a:xfrm>
          <a:prstGeom prst="roundRect">
            <a:avLst>
              <a:gd name="adj" fmla="val 4103"/>
            </a:avLst>
          </a:prstGeom>
          <a:solidFill>
            <a:srgbClr val="EAF4F4"/>
          </a:solidFill>
          <a:ln w="12700">
            <a:solidFill>
              <a:srgbClr val="D6DFE4"/>
            </a:solidFill>
            <a:prstDash val="solid"/>
          </a:ln>
        </p:spPr>
      </p:sp>
      <p:sp>
        <p:nvSpPr>
          <p:cNvPr id="11" name="Text 9"/>
          <p:cNvSpPr txBox="1"/>
          <p:nvPr/>
        </p:nvSpPr>
        <p:spPr>
          <a:xfrm>
            <a:off x="8388096" y="1783080"/>
            <a:ext cx="3051048" cy="320040"/>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Dispatch (NetworkX)</a:t>
            </a:r>
            <a:endParaRPr lang="en-US" sz="1600" dirty="0"/>
          </a:p>
        </p:txBody>
      </p:sp>
      <p:sp>
        <p:nvSpPr>
          <p:cNvPr id="12" name="Text 10"/>
          <p:cNvSpPr txBox="1"/>
          <p:nvPr/>
        </p:nvSpPr>
        <p:spPr>
          <a:xfrm>
            <a:off x="8388096" y="2194560"/>
            <a:ext cx="3051048" cy="1124712"/>
          </a:xfrm>
          <a:prstGeom prst="rect">
            <a:avLst/>
          </a:prstGeom>
          <a:noFill/>
          <a:ln/>
        </p:spPr>
        <p:txBody>
          <a:bodyPr wrap="square" lIns="0" tIns="0" rIns="0" bIns="0" rtlCol="0" anchor="t"/>
          <a:lstStyle/>
          <a:p>
            <a:pPr indent="0" marL="0">
              <a:lnSpc>
                <a:spcPct val="103000"/>
              </a:lnSpc>
              <a:buNone/>
            </a:pPr>
            <a:r>
              <a:rPr lang="en-US" sz="1400" b="1" dirty="0">
                <a:solidFill>
                  <a:srgbClr val="14232A"/>
                </a:solidFill>
                <a:latin typeface="Calibri" pitchFamily="34" charset="0"/>
                <a:ea typeface="Calibri" pitchFamily="34" charset="-122"/>
                <a:cs typeface="Calibri" pitchFamily="34" charset="-120"/>
              </a:rPr>
              <a:t>Turns the network into a graph and uses shortest-path routing to pick the nearest crew and route.</a:t>
            </a:r>
            <a:endParaRPr lang="en-US" sz="1400" dirty="0"/>
          </a:p>
        </p:txBody>
      </p:sp>
      <p:sp>
        <p:nvSpPr>
          <p:cNvPr id="13" name="Text 11"/>
          <p:cNvSpPr txBox="1"/>
          <p:nvPr/>
        </p:nvSpPr>
        <p:spPr>
          <a:xfrm>
            <a:off x="548640" y="3657600"/>
            <a:ext cx="10058400" cy="27432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Data flow</a:t>
            </a:r>
            <a:endParaRPr lang="en-US" sz="1500" dirty="0"/>
          </a:p>
        </p:txBody>
      </p:sp>
      <p:sp>
        <p:nvSpPr>
          <p:cNvPr id="14" name="Shape 12"/>
          <p:cNvSpPr/>
          <p:nvPr/>
        </p:nvSpPr>
        <p:spPr>
          <a:xfrm>
            <a:off x="548640" y="3977640"/>
            <a:ext cx="1925726" cy="731520"/>
          </a:xfrm>
          <a:prstGeom prst="roundRect">
            <a:avLst>
              <a:gd name="adj" fmla="val 10000"/>
            </a:avLst>
          </a:prstGeom>
          <a:solidFill>
            <a:srgbClr val="0E7C86"/>
          </a:solidFill>
          <a:ln/>
        </p:spPr>
      </p:sp>
      <p:sp>
        <p:nvSpPr>
          <p:cNvPr id="15" name="Text 13"/>
          <p:cNvSpPr txBox="1"/>
          <p:nvPr/>
        </p:nvSpPr>
        <p:spPr>
          <a:xfrm>
            <a:off x="548640" y="3977640"/>
            <a:ext cx="1925726"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Sensor readings</a:t>
            </a:r>
            <a:endParaRPr lang="en-US" sz="1300" dirty="0"/>
          </a:p>
        </p:txBody>
      </p:sp>
      <p:sp>
        <p:nvSpPr>
          <p:cNvPr id="16" name="Shape 14"/>
          <p:cNvSpPr/>
          <p:nvPr/>
        </p:nvSpPr>
        <p:spPr>
          <a:xfrm>
            <a:off x="2520086" y="4261104"/>
            <a:ext cx="274320" cy="164592"/>
          </a:xfrm>
          <a:prstGeom prst="rightArrow">
            <a:avLst/>
          </a:prstGeom>
          <a:solidFill>
            <a:srgbClr val="9AAAB0"/>
          </a:solidFill>
          <a:ln/>
        </p:spPr>
      </p:sp>
      <p:sp>
        <p:nvSpPr>
          <p:cNvPr id="17" name="Shape 15"/>
          <p:cNvSpPr/>
          <p:nvPr/>
        </p:nvSpPr>
        <p:spPr>
          <a:xfrm>
            <a:off x="2840126" y="3977640"/>
            <a:ext cx="1925726" cy="731520"/>
          </a:xfrm>
          <a:prstGeom prst="roundRect">
            <a:avLst>
              <a:gd name="adj" fmla="val 10000"/>
            </a:avLst>
          </a:prstGeom>
          <a:solidFill>
            <a:srgbClr val="0E7C86"/>
          </a:solidFill>
          <a:ln/>
        </p:spPr>
      </p:sp>
      <p:sp>
        <p:nvSpPr>
          <p:cNvPr id="18" name="Text 16"/>
          <p:cNvSpPr txBox="1"/>
          <p:nvPr/>
        </p:nvSpPr>
        <p:spPr>
          <a:xfrm>
            <a:off x="2840126" y="3977640"/>
            <a:ext cx="1925726"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Residual features</a:t>
            </a:r>
            <a:endParaRPr lang="en-US" sz="1300" dirty="0"/>
          </a:p>
        </p:txBody>
      </p:sp>
      <p:sp>
        <p:nvSpPr>
          <p:cNvPr id="19" name="Shape 17"/>
          <p:cNvSpPr/>
          <p:nvPr/>
        </p:nvSpPr>
        <p:spPr>
          <a:xfrm>
            <a:off x="4811573" y="4261104"/>
            <a:ext cx="274320" cy="164592"/>
          </a:xfrm>
          <a:prstGeom prst="rightArrow">
            <a:avLst/>
          </a:prstGeom>
          <a:solidFill>
            <a:srgbClr val="9AAAB0"/>
          </a:solidFill>
          <a:ln/>
        </p:spPr>
      </p:sp>
      <p:sp>
        <p:nvSpPr>
          <p:cNvPr id="20" name="Shape 18"/>
          <p:cNvSpPr/>
          <p:nvPr/>
        </p:nvSpPr>
        <p:spPr>
          <a:xfrm>
            <a:off x="5131613" y="3977640"/>
            <a:ext cx="1925726" cy="731520"/>
          </a:xfrm>
          <a:prstGeom prst="roundRect">
            <a:avLst>
              <a:gd name="adj" fmla="val 10000"/>
            </a:avLst>
          </a:prstGeom>
          <a:solidFill>
            <a:srgbClr val="0E7C86"/>
          </a:solidFill>
          <a:ln/>
        </p:spPr>
      </p:sp>
      <p:sp>
        <p:nvSpPr>
          <p:cNvPr id="21" name="Text 19"/>
          <p:cNvSpPr txBox="1"/>
          <p:nvPr/>
        </p:nvSpPr>
        <p:spPr>
          <a:xfrm>
            <a:off x="5131613" y="3977640"/>
            <a:ext cx="1925726"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Detect</a:t>
            </a:r>
            <a:endParaRPr lang="en-US" sz="1300" dirty="0"/>
          </a:p>
        </p:txBody>
      </p:sp>
      <p:sp>
        <p:nvSpPr>
          <p:cNvPr id="22" name="Shape 20"/>
          <p:cNvSpPr/>
          <p:nvPr/>
        </p:nvSpPr>
        <p:spPr>
          <a:xfrm>
            <a:off x="7103059" y="4261104"/>
            <a:ext cx="274320" cy="164592"/>
          </a:xfrm>
          <a:prstGeom prst="rightArrow">
            <a:avLst/>
          </a:prstGeom>
          <a:solidFill>
            <a:srgbClr val="9AAAB0"/>
          </a:solidFill>
          <a:ln/>
        </p:spPr>
      </p:sp>
      <p:sp>
        <p:nvSpPr>
          <p:cNvPr id="23" name="Shape 21"/>
          <p:cNvSpPr/>
          <p:nvPr/>
        </p:nvSpPr>
        <p:spPr>
          <a:xfrm>
            <a:off x="7423099" y="3977640"/>
            <a:ext cx="1925726" cy="731520"/>
          </a:xfrm>
          <a:prstGeom prst="roundRect">
            <a:avLst>
              <a:gd name="adj" fmla="val 10000"/>
            </a:avLst>
          </a:prstGeom>
          <a:solidFill>
            <a:srgbClr val="0E7C86"/>
          </a:solidFill>
          <a:ln/>
        </p:spPr>
      </p:sp>
      <p:sp>
        <p:nvSpPr>
          <p:cNvPr id="24" name="Text 22"/>
          <p:cNvSpPr txBox="1"/>
          <p:nvPr/>
        </p:nvSpPr>
        <p:spPr>
          <a:xfrm>
            <a:off x="7423099" y="3977640"/>
            <a:ext cx="1925726"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Localize</a:t>
            </a:r>
            <a:endParaRPr lang="en-US" sz="1300" dirty="0"/>
          </a:p>
        </p:txBody>
      </p:sp>
      <p:sp>
        <p:nvSpPr>
          <p:cNvPr id="25" name="Shape 23"/>
          <p:cNvSpPr/>
          <p:nvPr/>
        </p:nvSpPr>
        <p:spPr>
          <a:xfrm>
            <a:off x="9394546" y="4261104"/>
            <a:ext cx="274320" cy="164592"/>
          </a:xfrm>
          <a:prstGeom prst="rightArrow">
            <a:avLst/>
          </a:prstGeom>
          <a:solidFill>
            <a:srgbClr val="9AAAB0"/>
          </a:solidFill>
          <a:ln/>
        </p:spPr>
      </p:sp>
      <p:sp>
        <p:nvSpPr>
          <p:cNvPr id="26" name="Shape 24"/>
          <p:cNvSpPr/>
          <p:nvPr/>
        </p:nvSpPr>
        <p:spPr>
          <a:xfrm>
            <a:off x="9714586" y="3977640"/>
            <a:ext cx="1925726" cy="731520"/>
          </a:xfrm>
          <a:prstGeom prst="roundRect">
            <a:avLst>
              <a:gd name="adj" fmla="val 10000"/>
            </a:avLst>
          </a:prstGeom>
          <a:solidFill>
            <a:srgbClr val="0E7C86"/>
          </a:solidFill>
          <a:ln/>
        </p:spPr>
      </p:sp>
      <p:sp>
        <p:nvSpPr>
          <p:cNvPr id="27" name="Text 25"/>
          <p:cNvSpPr txBox="1"/>
          <p:nvPr/>
        </p:nvSpPr>
        <p:spPr>
          <a:xfrm>
            <a:off x="9714586" y="3977640"/>
            <a:ext cx="1925726"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Dispatch</a:t>
            </a:r>
            <a:endParaRPr lang="en-US" sz="1300" dirty="0"/>
          </a:p>
        </p:txBody>
      </p:sp>
      <p:sp>
        <p:nvSpPr>
          <p:cNvPr id="28" name="Text 26"/>
          <p:cNvSpPr txBox="1"/>
          <p:nvPr/>
        </p:nvSpPr>
        <p:spPr>
          <a:xfrm>
            <a:off x="548640" y="4983480"/>
            <a:ext cx="11064240" cy="640080"/>
          </a:xfrm>
          <a:prstGeom prst="rect">
            <a:avLst/>
          </a:prstGeom>
          <a:noFill/>
          <a:ln/>
        </p:spPr>
        <p:txBody>
          <a:bodyPr wrap="square" lIns="0" tIns="0" rIns="0" bIns="0" rtlCol="0" anchor="ctr"/>
          <a:lstStyle/>
          <a:p>
            <a:pPr indent="0" marL="0">
              <a:lnSpc>
                <a:spcPct val="105000"/>
              </a:lnSpc>
              <a:buNone/>
            </a:pPr>
            <a:r>
              <a:rPr lang="en-US" sz="1400" b="1" dirty="0">
                <a:solidFill>
                  <a:srgbClr val="14232A"/>
                </a:solidFill>
                <a:latin typeface="Calibri" pitchFamily="34" charset="0"/>
                <a:ea typeface="Calibri" pitchFamily="34" charset="-122"/>
                <a:cs typeface="Calibri" pitchFamily="34" charset="-120"/>
              </a:rPr>
              <a:t>Data comes in as sensor readings; the models detect and locate the leak; a shortest-path step routes the nearest crew.</a:t>
            </a:r>
            <a:endParaRPr lang="en-US" sz="1400" dirty="0"/>
          </a:p>
        </p:txBody>
      </p:sp>
      <p:sp>
        <p:nvSpPr>
          <p:cNvPr id="30" name="Shape 27"/>
          <p:cNvSpPr/>
          <p:nvPr/>
        </p:nvSpPr>
        <p:spPr>
          <a:xfrm>
            <a:off x="548640" y="6382512"/>
            <a:ext cx="11091672" cy="0"/>
          </a:xfrm>
          <a:prstGeom prst="line">
            <a:avLst/>
          </a:prstGeom>
          <a:noFill/>
          <a:ln w="12700">
            <a:solidFill>
              <a:srgbClr val="D6DFE4"/>
            </a:solidFill>
            <a:prstDash val="solid"/>
          </a:ln>
        </p:spPr>
      </p:sp>
      <p:sp>
        <p:nvSpPr>
          <p:cNvPr id="31" name="Text 28"/>
          <p:cNvSpPr txBox="1"/>
          <p:nvPr/>
        </p:nvSpPr>
        <p:spPr>
          <a:xfrm>
            <a:off x="10881360" y="6400800"/>
            <a:ext cx="758952" cy="274320"/>
          </a:xfrm>
          <a:prstGeom prst="rect">
            <a:avLst/>
          </a:prstGeom>
          <a:noFill/>
          <a:ln/>
        </p:spPr>
        <p:txBody>
          <a:bodyPr wrap="square" lIns="0" tIns="0" rIns="0" bIns="0" rtlCol="0" anchor="ctr"/>
          <a:lstStyle/>
          <a:p>
            <a:pPr algn="r" indent="0" marL="0">
              <a:buNone/>
            </a:pPr>
            <a:r>
              <a:rPr lang="en-US" sz="1200" b="1" dirty="0">
                <a:solidFill>
                  <a:srgbClr val="5F7079"/>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0972800" cy="274320"/>
          </a:xfrm>
          <a:prstGeom prst="rect">
            <a:avLst/>
          </a:prstGeom>
          <a:noFill/>
          <a:ln/>
        </p:spPr>
        <p:txBody>
          <a:bodyPr wrap="square" lIns="0" tIns="0" rIns="0" bIns="0" rtlCol="0" anchor="ctr"/>
          <a:lstStyle/>
          <a:p>
            <a:pPr indent="0" marL="0">
              <a:buNone/>
            </a:pPr>
            <a:r>
              <a:rPr lang="en-US" sz="1300" b="1" spc="200" kern="0" dirty="0">
                <a:solidFill>
                  <a:srgbClr val="0E7C86"/>
                </a:solidFill>
                <a:latin typeface="Calibri" pitchFamily="34" charset="0"/>
                <a:ea typeface="Calibri" pitchFamily="34" charset="-122"/>
                <a:cs typeface="Calibri" pitchFamily="34" charset="-120"/>
              </a:rPr>
              <a:t>5. DATA SOURCE &amp; DATA COLLECTION</a:t>
            </a:r>
            <a:endParaRPr lang="en-US" sz="13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How the project creates its data</a:t>
            </a:r>
            <a:endParaRPr lang="en-US" sz="3000" dirty="0"/>
          </a:p>
        </p:txBody>
      </p:sp>
      <p:sp>
        <p:nvSpPr>
          <p:cNvPr id="4" name="Shape 2"/>
          <p:cNvSpPr/>
          <p:nvPr/>
        </p:nvSpPr>
        <p:spPr>
          <a:xfrm>
            <a:off x="548640" y="1645920"/>
            <a:ext cx="5362956" cy="1783080"/>
          </a:xfrm>
          <a:prstGeom prst="roundRect">
            <a:avLst>
              <a:gd name="adj" fmla="val 4103"/>
            </a:avLst>
          </a:prstGeom>
          <a:solidFill>
            <a:srgbClr val="EAF4F4"/>
          </a:solidFill>
          <a:ln w="12700">
            <a:solidFill>
              <a:srgbClr val="D6DFE4"/>
            </a:solidFill>
            <a:prstDash val="solid"/>
          </a:ln>
        </p:spPr>
      </p:sp>
      <p:sp>
        <p:nvSpPr>
          <p:cNvPr id="5" name="Text 3"/>
          <p:cNvSpPr txBox="1"/>
          <p:nvPr/>
        </p:nvSpPr>
        <p:spPr>
          <a:xfrm>
            <a:off x="749808" y="1783080"/>
            <a:ext cx="4960620" cy="320040"/>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Data source</a:t>
            </a:r>
            <a:endParaRPr lang="en-US" sz="1600" dirty="0"/>
          </a:p>
        </p:txBody>
      </p:sp>
      <p:sp>
        <p:nvSpPr>
          <p:cNvPr id="6" name="Text 4"/>
          <p:cNvSpPr txBox="1"/>
          <p:nvPr/>
        </p:nvSpPr>
        <p:spPr>
          <a:xfrm>
            <a:off x="749808" y="2194560"/>
            <a:ext cx="4960620" cy="1124712"/>
          </a:xfrm>
          <a:prstGeom prst="rect">
            <a:avLst/>
          </a:prstGeom>
          <a:noFill/>
          <a:ln/>
        </p:spPr>
        <p:txBody>
          <a:bodyPr wrap="square" lIns="0" tIns="0" rIns="0" bIns="0" rtlCol="0" anchor="t"/>
          <a:lstStyle/>
          <a:p>
            <a:pPr indent="0" marL="0">
              <a:lnSpc>
                <a:spcPct val="103000"/>
              </a:lnSpc>
              <a:buNone/>
            </a:pPr>
            <a:r>
              <a:rPr lang="en-US" sz="1400" b="1" dirty="0">
                <a:solidFill>
                  <a:srgbClr val="14232A"/>
                </a:solidFill>
                <a:latin typeface="Calibri" pitchFamily="34" charset="0"/>
                <a:ea typeface="Calibri" pitchFamily="34" charset="-122"/>
                <a:cs typeface="Calibri" pitchFamily="34" charset="-120"/>
              </a:rPr>
              <a:t>The primary data source is the EPANET / WNTR simulation - not a fixed real-world dataset. I generate the data by simulating the network and injecting leaks myself, so the true answer is always known.</a:t>
            </a:r>
            <a:endParaRPr lang="en-US" sz="1400" dirty="0"/>
          </a:p>
        </p:txBody>
      </p:sp>
      <p:sp>
        <p:nvSpPr>
          <p:cNvPr id="7" name="Shape 5"/>
          <p:cNvSpPr/>
          <p:nvPr/>
        </p:nvSpPr>
        <p:spPr>
          <a:xfrm>
            <a:off x="6277356" y="1645920"/>
            <a:ext cx="5362956" cy="1783080"/>
          </a:xfrm>
          <a:prstGeom prst="roundRect">
            <a:avLst>
              <a:gd name="adj" fmla="val 4103"/>
            </a:avLst>
          </a:prstGeom>
          <a:solidFill>
            <a:srgbClr val="EAF4F4"/>
          </a:solidFill>
          <a:ln w="12700">
            <a:solidFill>
              <a:srgbClr val="D6DFE4"/>
            </a:solidFill>
            <a:prstDash val="solid"/>
          </a:ln>
        </p:spPr>
      </p:sp>
      <p:sp>
        <p:nvSpPr>
          <p:cNvPr id="8" name="Text 6"/>
          <p:cNvSpPr txBox="1"/>
          <p:nvPr/>
        </p:nvSpPr>
        <p:spPr>
          <a:xfrm>
            <a:off x="6478524" y="1783080"/>
            <a:ext cx="4960620" cy="320040"/>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What becomes the dataset?</a:t>
            </a:r>
            <a:endParaRPr lang="en-US" sz="1600" dirty="0"/>
          </a:p>
        </p:txBody>
      </p:sp>
      <p:sp>
        <p:nvSpPr>
          <p:cNvPr id="9" name="Text 7"/>
          <p:cNvSpPr txBox="1"/>
          <p:nvPr/>
        </p:nvSpPr>
        <p:spPr>
          <a:xfrm>
            <a:off x="6478524" y="2194560"/>
            <a:ext cx="4960620" cy="1124712"/>
          </a:xfrm>
          <a:prstGeom prst="rect">
            <a:avLst/>
          </a:prstGeom>
          <a:noFill/>
          <a:ln/>
        </p:spPr>
        <p:txBody>
          <a:bodyPr wrap="square" lIns="0" tIns="0" rIns="0" bIns="0" rtlCol="0" anchor="t"/>
          <a:lstStyle/>
          <a:p>
            <a:pPr indent="0" marL="0">
              <a:lnSpc>
                <a:spcPct val="103000"/>
              </a:lnSpc>
              <a:buNone/>
            </a:pPr>
            <a:r>
              <a:rPr lang="en-US" sz="1400" b="1" dirty="0">
                <a:solidFill>
                  <a:srgbClr val="14232A"/>
                </a:solidFill>
                <a:latin typeface="Calibri" pitchFamily="34" charset="0"/>
                <a:ea typeface="Calibri" pitchFamily="34" charset="-122"/>
                <a:cs typeface="Calibri" pitchFamily="34" charset="-120"/>
              </a:rPr>
              <a:t>Pressure readings at each sensor over time, labeled with leak / no-leak and the leak location, plus the residual features I compute from them.</a:t>
            </a:r>
            <a:endParaRPr lang="en-US" sz="1400" dirty="0"/>
          </a:p>
        </p:txBody>
      </p:sp>
      <p:sp>
        <p:nvSpPr>
          <p:cNvPr id="10" name="Text 8"/>
          <p:cNvSpPr txBox="1"/>
          <p:nvPr/>
        </p:nvSpPr>
        <p:spPr>
          <a:xfrm>
            <a:off x="548640" y="3703320"/>
            <a:ext cx="10058400" cy="27432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Data collection flow</a:t>
            </a:r>
            <a:endParaRPr lang="en-US" sz="1500" dirty="0"/>
          </a:p>
        </p:txBody>
      </p:sp>
      <p:sp>
        <p:nvSpPr>
          <p:cNvPr id="11" name="Shape 9"/>
          <p:cNvSpPr/>
          <p:nvPr/>
        </p:nvSpPr>
        <p:spPr>
          <a:xfrm>
            <a:off x="548640" y="4023360"/>
            <a:ext cx="1543812" cy="731520"/>
          </a:xfrm>
          <a:prstGeom prst="roundRect">
            <a:avLst>
              <a:gd name="adj" fmla="val 10000"/>
            </a:avLst>
          </a:prstGeom>
          <a:solidFill>
            <a:srgbClr val="0E7C86"/>
          </a:solidFill>
          <a:ln/>
        </p:spPr>
      </p:sp>
      <p:sp>
        <p:nvSpPr>
          <p:cNvPr id="12" name="Text 10"/>
          <p:cNvSpPr txBox="1"/>
          <p:nvPr/>
        </p:nvSpPr>
        <p:spPr>
          <a:xfrm>
            <a:off x="548640" y="4023360"/>
            <a:ext cx="1543812"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Load network</a:t>
            </a:r>
            <a:endParaRPr lang="en-US" sz="1300" dirty="0"/>
          </a:p>
        </p:txBody>
      </p:sp>
      <p:sp>
        <p:nvSpPr>
          <p:cNvPr id="13" name="Shape 11"/>
          <p:cNvSpPr/>
          <p:nvPr/>
        </p:nvSpPr>
        <p:spPr>
          <a:xfrm>
            <a:off x="2138172" y="4306824"/>
            <a:ext cx="274320" cy="164592"/>
          </a:xfrm>
          <a:prstGeom prst="rightArrow">
            <a:avLst/>
          </a:prstGeom>
          <a:solidFill>
            <a:srgbClr val="9AAAB0"/>
          </a:solidFill>
          <a:ln/>
        </p:spPr>
      </p:sp>
      <p:sp>
        <p:nvSpPr>
          <p:cNvPr id="14" name="Shape 12"/>
          <p:cNvSpPr/>
          <p:nvPr/>
        </p:nvSpPr>
        <p:spPr>
          <a:xfrm>
            <a:off x="2458212" y="4023360"/>
            <a:ext cx="1543812" cy="731520"/>
          </a:xfrm>
          <a:prstGeom prst="roundRect">
            <a:avLst>
              <a:gd name="adj" fmla="val 10000"/>
            </a:avLst>
          </a:prstGeom>
          <a:solidFill>
            <a:srgbClr val="0E7C86"/>
          </a:solidFill>
          <a:ln/>
        </p:spPr>
      </p:sp>
      <p:sp>
        <p:nvSpPr>
          <p:cNvPr id="15" name="Text 13"/>
          <p:cNvSpPr txBox="1"/>
          <p:nvPr/>
        </p:nvSpPr>
        <p:spPr>
          <a:xfrm>
            <a:off x="2458212" y="4023360"/>
            <a:ext cx="1543812"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Set leak</a:t>
            </a:r>
            <a:endParaRPr lang="en-US" sz="1300" dirty="0"/>
          </a:p>
        </p:txBody>
      </p:sp>
      <p:sp>
        <p:nvSpPr>
          <p:cNvPr id="16" name="Shape 14"/>
          <p:cNvSpPr/>
          <p:nvPr/>
        </p:nvSpPr>
        <p:spPr>
          <a:xfrm>
            <a:off x="4047744" y="4306824"/>
            <a:ext cx="274320" cy="164592"/>
          </a:xfrm>
          <a:prstGeom prst="rightArrow">
            <a:avLst/>
          </a:prstGeom>
          <a:solidFill>
            <a:srgbClr val="9AAAB0"/>
          </a:solidFill>
          <a:ln/>
        </p:spPr>
      </p:sp>
      <p:sp>
        <p:nvSpPr>
          <p:cNvPr id="17" name="Shape 15"/>
          <p:cNvSpPr/>
          <p:nvPr/>
        </p:nvSpPr>
        <p:spPr>
          <a:xfrm>
            <a:off x="4367784" y="4023360"/>
            <a:ext cx="1543812" cy="731520"/>
          </a:xfrm>
          <a:prstGeom prst="roundRect">
            <a:avLst>
              <a:gd name="adj" fmla="val 10000"/>
            </a:avLst>
          </a:prstGeom>
          <a:solidFill>
            <a:srgbClr val="0E7C86"/>
          </a:solidFill>
          <a:ln/>
        </p:spPr>
      </p:sp>
      <p:sp>
        <p:nvSpPr>
          <p:cNvPr id="18" name="Text 16"/>
          <p:cNvSpPr txBox="1"/>
          <p:nvPr/>
        </p:nvSpPr>
        <p:spPr>
          <a:xfrm>
            <a:off x="4367784" y="4023360"/>
            <a:ext cx="1543812"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Simulate</a:t>
            </a:r>
            <a:endParaRPr lang="en-US" sz="1300" dirty="0"/>
          </a:p>
        </p:txBody>
      </p:sp>
      <p:sp>
        <p:nvSpPr>
          <p:cNvPr id="19" name="Shape 17"/>
          <p:cNvSpPr/>
          <p:nvPr/>
        </p:nvSpPr>
        <p:spPr>
          <a:xfrm>
            <a:off x="5957316" y="4306824"/>
            <a:ext cx="274320" cy="164592"/>
          </a:xfrm>
          <a:prstGeom prst="rightArrow">
            <a:avLst/>
          </a:prstGeom>
          <a:solidFill>
            <a:srgbClr val="9AAAB0"/>
          </a:solidFill>
          <a:ln/>
        </p:spPr>
      </p:sp>
      <p:sp>
        <p:nvSpPr>
          <p:cNvPr id="20" name="Shape 18"/>
          <p:cNvSpPr/>
          <p:nvPr/>
        </p:nvSpPr>
        <p:spPr>
          <a:xfrm>
            <a:off x="6277356" y="4023360"/>
            <a:ext cx="1543812" cy="731520"/>
          </a:xfrm>
          <a:prstGeom prst="roundRect">
            <a:avLst>
              <a:gd name="adj" fmla="val 10000"/>
            </a:avLst>
          </a:prstGeom>
          <a:solidFill>
            <a:srgbClr val="0E7C86"/>
          </a:solidFill>
          <a:ln/>
        </p:spPr>
      </p:sp>
      <p:sp>
        <p:nvSpPr>
          <p:cNvPr id="21" name="Text 19"/>
          <p:cNvSpPr txBox="1"/>
          <p:nvPr/>
        </p:nvSpPr>
        <p:spPr>
          <a:xfrm>
            <a:off x="6277356" y="4023360"/>
            <a:ext cx="1543812"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Record pressures</a:t>
            </a:r>
            <a:endParaRPr lang="en-US" sz="1300" dirty="0"/>
          </a:p>
        </p:txBody>
      </p:sp>
      <p:sp>
        <p:nvSpPr>
          <p:cNvPr id="22" name="Shape 20"/>
          <p:cNvSpPr/>
          <p:nvPr/>
        </p:nvSpPr>
        <p:spPr>
          <a:xfrm>
            <a:off x="7866888" y="4306824"/>
            <a:ext cx="274320" cy="164592"/>
          </a:xfrm>
          <a:prstGeom prst="rightArrow">
            <a:avLst/>
          </a:prstGeom>
          <a:solidFill>
            <a:srgbClr val="9AAAB0"/>
          </a:solidFill>
          <a:ln/>
        </p:spPr>
      </p:sp>
      <p:sp>
        <p:nvSpPr>
          <p:cNvPr id="23" name="Shape 21"/>
          <p:cNvSpPr/>
          <p:nvPr/>
        </p:nvSpPr>
        <p:spPr>
          <a:xfrm>
            <a:off x="8186928" y="4023360"/>
            <a:ext cx="1543812" cy="731520"/>
          </a:xfrm>
          <a:prstGeom prst="roundRect">
            <a:avLst>
              <a:gd name="adj" fmla="val 10000"/>
            </a:avLst>
          </a:prstGeom>
          <a:solidFill>
            <a:srgbClr val="0E7C86"/>
          </a:solidFill>
          <a:ln/>
        </p:spPr>
      </p:sp>
      <p:sp>
        <p:nvSpPr>
          <p:cNvPr id="24" name="Text 22"/>
          <p:cNvSpPr txBox="1"/>
          <p:nvPr/>
        </p:nvSpPr>
        <p:spPr>
          <a:xfrm>
            <a:off x="8186928" y="4023360"/>
            <a:ext cx="1543812"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Label</a:t>
            </a:r>
            <a:endParaRPr lang="en-US" sz="1300" dirty="0"/>
          </a:p>
        </p:txBody>
      </p:sp>
      <p:sp>
        <p:nvSpPr>
          <p:cNvPr id="25" name="Shape 23"/>
          <p:cNvSpPr/>
          <p:nvPr/>
        </p:nvSpPr>
        <p:spPr>
          <a:xfrm>
            <a:off x="9776460" y="4306824"/>
            <a:ext cx="274320" cy="164592"/>
          </a:xfrm>
          <a:prstGeom prst="rightArrow">
            <a:avLst/>
          </a:prstGeom>
          <a:solidFill>
            <a:srgbClr val="9AAAB0"/>
          </a:solidFill>
          <a:ln/>
        </p:spPr>
      </p:sp>
      <p:sp>
        <p:nvSpPr>
          <p:cNvPr id="26" name="Shape 24"/>
          <p:cNvSpPr/>
          <p:nvPr/>
        </p:nvSpPr>
        <p:spPr>
          <a:xfrm>
            <a:off x="10096500" y="4023360"/>
            <a:ext cx="1543812" cy="731520"/>
          </a:xfrm>
          <a:prstGeom prst="roundRect">
            <a:avLst>
              <a:gd name="adj" fmla="val 10000"/>
            </a:avLst>
          </a:prstGeom>
          <a:solidFill>
            <a:srgbClr val="0E7C86"/>
          </a:solidFill>
          <a:ln/>
        </p:spPr>
      </p:sp>
      <p:sp>
        <p:nvSpPr>
          <p:cNvPr id="27" name="Text 25"/>
          <p:cNvSpPr txBox="1"/>
          <p:nvPr/>
        </p:nvSpPr>
        <p:spPr>
          <a:xfrm>
            <a:off x="10096500" y="4023360"/>
            <a:ext cx="1543812"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Repeat</a:t>
            </a:r>
            <a:endParaRPr lang="en-US" sz="1300" dirty="0"/>
          </a:p>
        </p:txBody>
      </p:sp>
      <p:sp>
        <p:nvSpPr>
          <p:cNvPr id="28" name="Text 26"/>
          <p:cNvSpPr txBox="1"/>
          <p:nvPr/>
        </p:nvSpPr>
        <p:spPr>
          <a:xfrm>
            <a:off x="548640" y="5029200"/>
            <a:ext cx="11064240" cy="640080"/>
          </a:xfrm>
          <a:prstGeom prst="rect">
            <a:avLst/>
          </a:prstGeom>
          <a:noFill/>
          <a:ln/>
        </p:spPr>
        <p:txBody>
          <a:bodyPr wrap="square" lIns="0" tIns="0" rIns="0" bIns="0" rtlCol="0" anchor="ctr"/>
          <a:lstStyle/>
          <a:p>
            <a:pPr indent="0" marL="0">
              <a:lnSpc>
                <a:spcPct val="105000"/>
              </a:lnSpc>
              <a:buNone/>
            </a:pPr>
            <a:r>
              <a:rPr lang="en-US" sz="1400" b="1" dirty="0">
                <a:solidFill>
                  <a:srgbClr val="14232A"/>
                </a:solidFill>
                <a:latin typeface="Calibri" pitchFamily="34" charset="0"/>
                <a:ea typeface="Calibri" pitchFamily="34" charset="-122"/>
                <a:cs typeface="Calibri" pitchFamily="34" charset="-120"/>
              </a:rPr>
              <a:t>Main fields:  timestamp, pressure per sensor, residual per sensor, leak_active (0/1), leak_node, scenario id.   Real benchmark: BattLeDIM (Zenodo).</a:t>
            </a:r>
            <a:endParaRPr lang="en-US" sz="1400" dirty="0"/>
          </a:p>
        </p:txBody>
      </p:sp>
      <p:sp>
        <p:nvSpPr>
          <p:cNvPr id="30" name="Shape 27"/>
          <p:cNvSpPr/>
          <p:nvPr/>
        </p:nvSpPr>
        <p:spPr>
          <a:xfrm>
            <a:off x="548640" y="6382512"/>
            <a:ext cx="11091672" cy="0"/>
          </a:xfrm>
          <a:prstGeom prst="line">
            <a:avLst/>
          </a:prstGeom>
          <a:noFill/>
          <a:ln w="12700">
            <a:solidFill>
              <a:srgbClr val="D6DFE4"/>
            </a:solidFill>
            <a:prstDash val="solid"/>
          </a:ln>
        </p:spPr>
      </p:sp>
      <p:sp>
        <p:nvSpPr>
          <p:cNvPr id="31" name="Text 28"/>
          <p:cNvSpPr txBox="1"/>
          <p:nvPr/>
        </p:nvSpPr>
        <p:spPr>
          <a:xfrm>
            <a:off x="10881360" y="6400800"/>
            <a:ext cx="758952" cy="274320"/>
          </a:xfrm>
          <a:prstGeom prst="rect">
            <a:avLst/>
          </a:prstGeom>
          <a:noFill/>
          <a:ln/>
        </p:spPr>
        <p:txBody>
          <a:bodyPr wrap="square" lIns="0" tIns="0" rIns="0" bIns="0" rtlCol="0" anchor="ctr"/>
          <a:lstStyle/>
          <a:p>
            <a:pPr algn="r" indent="0" marL="0">
              <a:buNone/>
            </a:pPr>
            <a:r>
              <a:rPr lang="en-US" sz="1200" b="1" dirty="0">
                <a:solidFill>
                  <a:srgbClr val="5F7079"/>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0972800" cy="274320"/>
          </a:xfrm>
          <a:prstGeom prst="rect">
            <a:avLst/>
          </a:prstGeom>
          <a:noFill/>
          <a:ln/>
        </p:spPr>
        <p:txBody>
          <a:bodyPr wrap="square" lIns="0" tIns="0" rIns="0" bIns="0" rtlCol="0" anchor="ctr"/>
          <a:lstStyle/>
          <a:p>
            <a:pPr indent="0" marL="0">
              <a:buNone/>
            </a:pPr>
            <a:r>
              <a:rPr lang="en-US" sz="1300" b="1" spc="200" kern="0" dirty="0">
                <a:solidFill>
                  <a:srgbClr val="0E7C86"/>
                </a:solidFill>
                <a:latin typeface="Calibri" pitchFamily="34" charset="0"/>
                <a:ea typeface="Calibri" pitchFamily="34" charset="-122"/>
                <a:cs typeface="Calibri" pitchFamily="34" charset="-120"/>
              </a:rPr>
              <a:t>5b. EXAMPLE SENSOR DATA</a:t>
            </a:r>
            <a:endParaRPr lang="en-US" sz="13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What the generated data looks like</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280160" y="1828800"/>
          <a:ext cx="9601200" cy="914400"/>
        </p:xfrm>
        <a:graphic>
          <a:graphicData uri="http://schemas.openxmlformats.org/drawingml/2006/table">
            <a:tbl>
              <a:tblPr/>
              <a:tblGrid>
                <a:gridCol w="1280160"/>
                <a:gridCol w="1664208"/>
                <a:gridCol w="1664208"/>
                <a:gridCol w="1664208"/>
                <a:gridCol w="1664208"/>
                <a:gridCol w="1664208"/>
                <a:gridCol w="914400"/>
              </a:tblGrid>
              <a:tr h="50292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hour</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0E7C86"/>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s101</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0E7C86"/>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s111</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0E7C86"/>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s103</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0E7C86"/>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s125</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0E7C86"/>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s163</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0E7C86"/>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leak</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0E7C86"/>
                    </a:solidFill>
                  </a:tcPr>
                </a:tc>
              </a:tr>
              <a:tr h="502920">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31.6</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41.5</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31.2</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45.5</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43.9</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FFFFF"/>
                    </a:solidFill>
                  </a:tcPr>
                </a:tc>
              </a:tr>
              <a:tr h="502920">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47</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31.3</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41.5</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31.0</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45.5</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44.1</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FFFFF"/>
                    </a:solidFill>
                  </a:tcPr>
                </a:tc>
              </a:tr>
              <a:tr h="502920">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48</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DECEA"/>
                    </a:solidFill>
                  </a:tcPr>
                </a:tc>
                <a:tc>
                  <a:txBody>
                    <a:bodyPr/>
                    <a:lstStyle/>
                    <a:p>
                      <a:pPr algn="ctr" indent="0" marL="0">
                        <a:buNone/>
                      </a:pPr>
                      <a:r>
                        <a:rPr lang="en-US" sz="1500" b="1" dirty="0">
                          <a:solidFill>
                            <a:srgbClr val="C8503F"/>
                          </a:solidFill>
                          <a:latin typeface="Calibri" pitchFamily="34" charset="0"/>
                          <a:ea typeface="Calibri" pitchFamily="34" charset="-122"/>
                          <a:cs typeface="Calibri" pitchFamily="34" charset="-120"/>
                        </a:rPr>
                        <a:t>17.6</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DECEA"/>
                    </a:solidFill>
                  </a:tcPr>
                </a:tc>
                <a:tc>
                  <a:txBody>
                    <a:bodyPr/>
                    <a:lstStyle/>
                    <a:p>
                      <a:pPr algn="ctr" indent="0" marL="0">
                        <a:buNone/>
                      </a:pPr>
                      <a:r>
                        <a:rPr lang="en-US" sz="1500" b="1" dirty="0">
                          <a:solidFill>
                            <a:srgbClr val="C8503F"/>
                          </a:solidFill>
                          <a:latin typeface="Calibri" pitchFamily="34" charset="0"/>
                          <a:ea typeface="Calibri" pitchFamily="34" charset="-122"/>
                          <a:cs typeface="Calibri" pitchFamily="34" charset="-120"/>
                        </a:rPr>
                        <a:t>26.6</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DECEA"/>
                    </a:solidFill>
                  </a:tcPr>
                </a:tc>
                <a:tc>
                  <a:txBody>
                    <a:bodyPr/>
                    <a:lstStyle/>
                    <a:p>
                      <a:pPr algn="ctr" indent="0" marL="0">
                        <a:buNone/>
                      </a:pPr>
                      <a:r>
                        <a:rPr lang="en-US" sz="1500" b="1" dirty="0">
                          <a:solidFill>
                            <a:srgbClr val="C8503F"/>
                          </a:solidFill>
                          <a:latin typeface="Calibri" pitchFamily="34" charset="0"/>
                          <a:ea typeface="Calibri" pitchFamily="34" charset="-122"/>
                          <a:cs typeface="Calibri" pitchFamily="34" charset="-120"/>
                        </a:rPr>
                        <a:t>17.1</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DECEA"/>
                    </a:solidFill>
                  </a:tcPr>
                </a:tc>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45.4</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DECEA"/>
                    </a:solidFill>
                  </a:tcPr>
                </a:tc>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42.3</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DECEA"/>
                    </a:solidFill>
                  </a:tcPr>
                </a:tc>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DECEA"/>
                    </a:solidFill>
                  </a:tcPr>
                </a:tc>
              </a:tr>
              <a:tr h="502920">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49</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32.8</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32.9</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31.1</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45.4</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42.4</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4232A"/>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91440" marR="91440" marT="45720" marB="45720" anchor="ctr">
                    <a:lnL w="12700" cap="flat" cmpd="sng" algn="ctr">
                      <a:solidFill>
                        <a:srgbClr val="D6DFE4"/>
                      </a:solidFill>
                      <a:prstDash val="solid"/>
                      <a:round/>
                      <a:headEnd type="none" w="med" len="med"/>
                      <a:tailEnd type="none" w="med" len="med"/>
                    </a:lnL>
                    <a:lnR w="12700" cap="flat" cmpd="sng" algn="ctr">
                      <a:solidFill>
                        <a:srgbClr val="D6DFE4"/>
                      </a:solidFill>
                      <a:prstDash val="solid"/>
                      <a:round/>
                      <a:headEnd type="none" w="med" len="med"/>
                      <a:tailEnd type="none" w="med" len="med"/>
                    </a:lnR>
                    <a:lnT w="12700" cap="flat" cmpd="sng" algn="ctr">
                      <a:solidFill>
                        <a:srgbClr val="D6DFE4"/>
                      </a:solidFill>
                      <a:prstDash val="solid"/>
                      <a:round/>
                      <a:headEnd type="none" w="med" len="med"/>
                      <a:tailEnd type="none" w="med" len="med"/>
                    </a:lnT>
                    <a:lnB w="12700" cap="flat" cmpd="sng" algn="ctr">
                      <a:solidFill>
                        <a:srgbClr val="D6DFE4"/>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4297680"/>
            <a:ext cx="10972800" cy="1097280"/>
          </a:xfrm>
          <a:prstGeom prst="rect">
            <a:avLst/>
          </a:prstGeom>
          <a:noFill/>
          <a:ln/>
        </p:spPr>
        <p:txBody>
          <a:bodyPr wrap="square" lIns="0" tIns="0" rIns="0" bIns="0" rtlCol="0" anchor="ctr"/>
          <a:lstStyle/>
          <a:p>
            <a:pPr indent="0" marL="0">
              <a:lnSpc>
                <a:spcPct val="115000"/>
              </a:lnSpc>
              <a:buNone/>
            </a:pPr>
            <a:r>
              <a:rPr lang="en-US" sz="1600" b="1" dirty="0">
                <a:solidFill>
                  <a:srgbClr val="14232A"/>
                </a:solidFill>
                <a:latin typeface="Calibri" pitchFamily="34" charset="0"/>
                <a:ea typeface="Calibri" pitchFamily="34" charset="-122"/>
                <a:cs typeface="Calibri" pitchFamily="34" charset="-120"/>
              </a:rPr>
              <a:t>At hour 47 -&gt; 48 the leak starts. </a:t>
            </a:r>
            <a:pPr indent="0" marL="0">
              <a:lnSpc>
                <a:spcPct val="115000"/>
              </a:lnSpc>
              <a:buNone/>
            </a:pPr>
            <a:r>
              <a:rPr lang="en-US" sz="1600" b="1" dirty="0">
                <a:solidFill>
                  <a:srgbClr val="C8503F"/>
                </a:solidFill>
                <a:latin typeface="Calibri" pitchFamily="34" charset="0"/>
                <a:ea typeface="Calibri" pitchFamily="34" charset="-122"/>
                <a:cs typeface="Calibri" pitchFamily="34" charset="-120"/>
              </a:rPr>
              <a:t>The sensors nearest the leak (s101, s111, s103) drop sharply</a:t>
            </a:r>
            <a:pPr indent="0" marL="0">
              <a:lnSpc>
                <a:spcPct val="115000"/>
              </a:lnSpc>
              <a:buNone/>
            </a:pPr>
            <a:r>
              <a:rPr lang="en-US" sz="1600" b="1" dirty="0">
                <a:solidFill>
                  <a:srgbClr val="14232A"/>
                </a:solidFill>
                <a:latin typeface="Calibri" pitchFamily="34" charset="0"/>
                <a:ea typeface="Calibri" pitchFamily="34" charset="-122"/>
                <a:cs typeface="Calibri" pitchFamily="34" charset="-120"/>
              </a:rPr>
              <a:t>, while the far sensors barely move. That pattern is the leak's fingerprint.</a:t>
            </a:r>
            <a:endParaRPr lang="en-US" sz="1600" dirty="0"/>
          </a:p>
        </p:txBody>
      </p:sp>
      <p:sp>
        <p:nvSpPr>
          <p:cNvPr id="7" name="Shape 3"/>
          <p:cNvSpPr/>
          <p:nvPr/>
        </p:nvSpPr>
        <p:spPr>
          <a:xfrm>
            <a:off x="548640" y="6382512"/>
            <a:ext cx="11091672" cy="0"/>
          </a:xfrm>
          <a:prstGeom prst="line">
            <a:avLst/>
          </a:prstGeom>
          <a:noFill/>
          <a:ln w="12700">
            <a:solidFill>
              <a:srgbClr val="D6DFE4"/>
            </a:solidFill>
            <a:prstDash val="solid"/>
          </a:ln>
        </p:spPr>
      </p:sp>
      <p:sp>
        <p:nvSpPr>
          <p:cNvPr id="8" name="Text 4"/>
          <p:cNvSpPr txBox="1"/>
          <p:nvPr/>
        </p:nvSpPr>
        <p:spPr>
          <a:xfrm>
            <a:off x="10881360" y="6400800"/>
            <a:ext cx="758952" cy="274320"/>
          </a:xfrm>
          <a:prstGeom prst="rect">
            <a:avLst/>
          </a:prstGeom>
          <a:noFill/>
          <a:ln/>
        </p:spPr>
        <p:txBody>
          <a:bodyPr wrap="square" lIns="0" tIns="0" rIns="0" bIns="0" rtlCol="0" anchor="ctr"/>
          <a:lstStyle/>
          <a:p>
            <a:pPr algn="r" indent="0" marL="0">
              <a:buNone/>
            </a:pPr>
            <a:r>
              <a:rPr lang="en-US" sz="1200" b="1" dirty="0">
                <a:solidFill>
                  <a:srgbClr val="5F7079"/>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0972800" cy="274320"/>
          </a:xfrm>
          <a:prstGeom prst="rect">
            <a:avLst/>
          </a:prstGeom>
          <a:noFill/>
          <a:ln/>
        </p:spPr>
        <p:txBody>
          <a:bodyPr wrap="square" lIns="0" tIns="0" rIns="0" bIns="0" rtlCol="0" anchor="ctr"/>
          <a:lstStyle/>
          <a:p>
            <a:pPr indent="0" marL="0">
              <a:buNone/>
            </a:pPr>
            <a:r>
              <a:rPr lang="en-US" sz="1300" b="1" spc="200" kern="0" dirty="0">
                <a:solidFill>
                  <a:srgbClr val="0E7C86"/>
                </a:solidFill>
                <a:latin typeface="Calibri" pitchFamily="34" charset="0"/>
                <a:ea typeface="Calibri" pitchFamily="34" charset="-122"/>
                <a:cs typeface="Calibri" pitchFamily="34" charset="-120"/>
              </a:rPr>
              <a:t>REFERENCES</a:t>
            </a:r>
            <a:endParaRPr lang="en-US" sz="13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Official sources used for the plan</a:t>
            </a:r>
            <a:endParaRPr lang="en-US" sz="3000" dirty="0"/>
          </a:p>
        </p:txBody>
      </p:sp>
      <p:sp>
        <p:nvSpPr>
          <p:cNvPr id="4" name="Text 2"/>
          <p:cNvSpPr txBox="1"/>
          <p:nvPr/>
        </p:nvSpPr>
        <p:spPr>
          <a:xfrm>
            <a:off x="548640" y="1737360"/>
            <a:ext cx="11064240" cy="2743200"/>
          </a:xfrm>
          <a:prstGeom prst="rect">
            <a:avLst/>
          </a:prstGeom>
          <a:noFill/>
          <a:ln/>
        </p:spPr>
        <p:txBody>
          <a:bodyPr wrap="square" lIns="0" tIns="0" rIns="0" bIns="0" rtlCol="0" anchor="ctr"/>
          <a:lstStyle/>
          <a:p>
            <a:pPr indent="0" marL="0">
              <a:lnSpc>
                <a:spcPct val="110000"/>
              </a:lnSpc>
              <a:spcAft>
                <a:spcPts val="900"/>
              </a:spcAft>
              <a:buNone/>
            </a:pPr>
            <a:r>
              <a:rPr lang="en-US" sz="1500" b="1" dirty="0">
                <a:solidFill>
                  <a:srgbClr val="14232A"/>
                </a:solidFill>
                <a:latin typeface="Calibri" pitchFamily="34" charset="0"/>
                <a:ea typeface="Calibri" pitchFamily="34" charset="-122"/>
                <a:cs typeface="Calibri" pitchFamily="34" charset="-120"/>
              </a:rPr>
              <a:t>WNTR documentation: </a:t>
            </a:r>
            <a:pPr indent="0" marL="0">
              <a:lnSpc>
                <a:spcPct val="110000"/>
              </a:lnSpc>
              <a:spcAft>
                <a:spcPts val="900"/>
              </a:spcAft>
              <a:buNone/>
            </a:pPr>
            <a:r>
              <a:rPr lang="en-US" sz="1500" b="1" dirty="0">
                <a:solidFill>
                  <a:srgbClr val="14232A"/>
                </a:solidFill>
                <a:latin typeface="Calibri" pitchFamily="34" charset="0"/>
                <a:ea typeface="Calibri" pitchFamily="34" charset="-122"/>
                <a:cs typeface="Calibri" pitchFamily="34" charset="-120"/>
              </a:rPr>
              <a:t>usepa.github.io/WNTR/</a:t>
            </a:r>
            <a:endParaRPr lang="en-US" sz="1500" dirty="0"/>
          </a:p>
          <a:p>
            <a:pPr indent="0" marL="0">
              <a:lnSpc>
                <a:spcPct val="110000"/>
              </a:lnSpc>
              <a:spcAft>
                <a:spcPts val="900"/>
              </a:spcAft>
              <a:buNone/>
            </a:pPr>
            <a:r>
              <a:rPr lang="en-US" sz="1500" b="1" dirty="0">
                <a:solidFill>
                  <a:srgbClr val="14232A"/>
                </a:solidFill>
                <a:latin typeface="Calibri" pitchFamily="34" charset="0"/>
                <a:ea typeface="Calibri" pitchFamily="34" charset="-122"/>
                <a:cs typeface="Calibri" pitchFamily="34" charset="-120"/>
              </a:rPr>
              <a:t>EPANET (U.S. EPA): </a:t>
            </a:r>
            <a:pPr indent="0" marL="0">
              <a:lnSpc>
                <a:spcPct val="110000"/>
              </a:lnSpc>
              <a:spcAft>
                <a:spcPts val="900"/>
              </a:spcAft>
              <a:buNone/>
            </a:pPr>
            <a:r>
              <a:rPr lang="en-US" sz="1500" b="1" dirty="0">
                <a:solidFill>
                  <a:srgbClr val="14232A"/>
                </a:solidFill>
                <a:latin typeface="Calibri" pitchFamily="34" charset="0"/>
                <a:ea typeface="Calibri" pitchFamily="34" charset="-122"/>
                <a:cs typeface="Calibri" pitchFamily="34" charset="-120"/>
              </a:rPr>
              <a:t>epa.gov/water-research/epanet</a:t>
            </a:r>
            <a:endParaRPr lang="en-US" sz="1500" dirty="0"/>
          </a:p>
          <a:p>
            <a:pPr indent="0" marL="0">
              <a:lnSpc>
                <a:spcPct val="110000"/>
              </a:lnSpc>
              <a:spcAft>
                <a:spcPts val="900"/>
              </a:spcAft>
              <a:buNone/>
            </a:pPr>
            <a:r>
              <a:rPr lang="en-US" sz="1500" b="1" dirty="0">
                <a:solidFill>
                  <a:srgbClr val="14232A"/>
                </a:solidFill>
                <a:latin typeface="Calibri" pitchFamily="34" charset="0"/>
                <a:ea typeface="Calibri" pitchFamily="34" charset="-122"/>
                <a:cs typeface="Calibri" pitchFamily="34" charset="-120"/>
              </a:rPr>
              <a:t>BattLeDIM competition: </a:t>
            </a:r>
            <a:pPr indent="0" marL="0">
              <a:lnSpc>
                <a:spcPct val="110000"/>
              </a:lnSpc>
              <a:spcAft>
                <a:spcPts val="900"/>
              </a:spcAft>
              <a:buNone/>
            </a:pPr>
            <a:r>
              <a:rPr lang="en-US" sz="1500" b="1" dirty="0">
                <a:solidFill>
                  <a:srgbClr val="14232A"/>
                </a:solidFill>
                <a:latin typeface="Calibri" pitchFamily="34" charset="0"/>
                <a:ea typeface="Calibri" pitchFamily="34" charset="-122"/>
                <a:cs typeface="Calibri" pitchFamily="34" charset="-120"/>
              </a:rPr>
              <a:t>battledim.ucy.ac.cy/</a:t>
            </a:r>
            <a:endParaRPr lang="en-US" sz="1500" dirty="0"/>
          </a:p>
          <a:p>
            <a:pPr indent="0" marL="0">
              <a:lnSpc>
                <a:spcPct val="110000"/>
              </a:lnSpc>
              <a:spcAft>
                <a:spcPts val="900"/>
              </a:spcAft>
              <a:buNone/>
            </a:pPr>
            <a:r>
              <a:rPr lang="en-US" sz="1500" b="1" dirty="0">
                <a:solidFill>
                  <a:srgbClr val="14232A"/>
                </a:solidFill>
                <a:latin typeface="Calibri" pitchFamily="34" charset="0"/>
                <a:ea typeface="Calibri" pitchFamily="34" charset="-122"/>
                <a:cs typeface="Calibri" pitchFamily="34" charset="-120"/>
              </a:rPr>
              <a:t>BattLeDIM dataset (Zenodo): </a:t>
            </a:r>
            <a:pPr indent="0" marL="0">
              <a:lnSpc>
                <a:spcPct val="110000"/>
              </a:lnSpc>
              <a:spcAft>
                <a:spcPts val="900"/>
              </a:spcAft>
              <a:buNone/>
            </a:pPr>
            <a:r>
              <a:rPr lang="en-US" sz="1500" b="1" dirty="0">
                <a:solidFill>
                  <a:srgbClr val="14232A"/>
                </a:solidFill>
                <a:latin typeface="Calibri" pitchFamily="34" charset="0"/>
                <a:ea typeface="Calibri" pitchFamily="34" charset="-122"/>
                <a:cs typeface="Calibri" pitchFamily="34" charset="-120"/>
              </a:rPr>
              <a:t>zenodo.org/records/4017659</a:t>
            </a:r>
            <a:endParaRPr lang="en-US" sz="1500" dirty="0"/>
          </a:p>
          <a:p>
            <a:pPr indent="0" marL="0">
              <a:lnSpc>
                <a:spcPct val="110000"/>
              </a:lnSpc>
              <a:spcAft>
                <a:spcPts val="900"/>
              </a:spcAft>
              <a:buNone/>
            </a:pPr>
            <a:r>
              <a:rPr lang="en-US" sz="1500" b="1" dirty="0">
                <a:solidFill>
                  <a:srgbClr val="14232A"/>
                </a:solidFill>
                <a:latin typeface="Calibri" pitchFamily="34" charset="0"/>
                <a:ea typeface="Calibri" pitchFamily="34" charset="-122"/>
                <a:cs typeface="Calibri" pitchFamily="34" charset="-120"/>
              </a:rPr>
              <a:t>LeakDB: </a:t>
            </a:r>
            <a:pPr indent="0" marL="0">
              <a:lnSpc>
                <a:spcPct val="110000"/>
              </a:lnSpc>
              <a:spcAft>
                <a:spcPts val="900"/>
              </a:spcAft>
              <a:buNone/>
            </a:pPr>
            <a:r>
              <a:rPr lang="en-US" sz="1500" b="1" dirty="0">
                <a:solidFill>
                  <a:srgbClr val="14232A"/>
                </a:solidFill>
                <a:latin typeface="Calibri" pitchFamily="34" charset="0"/>
                <a:ea typeface="Calibri" pitchFamily="34" charset="-122"/>
                <a:cs typeface="Calibri" pitchFamily="34" charset="-120"/>
              </a:rPr>
              <a:t>github.com/KIOS-Research/LeakDB</a:t>
            </a:r>
            <a:endParaRPr lang="en-US" sz="1500" dirty="0"/>
          </a:p>
          <a:p>
            <a:pPr indent="0" marL="0">
              <a:lnSpc>
                <a:spcPct val="110000"/>
              </a:lnSpc>
              <a:spcAft>
                <a:spcPts val="900"/>
              </a:spcAft>
              <a:buNone/>
            </a:pPr>
            <a:r>
              <a:rPr lang="en-US" sz="1500" b="1" dirty="0">
                <a:solidFill>
                  <a:srgbClr val="14232A"/>
                </a:solidFill>
                <a:latin typeface="Calibri" pitchFamily="34" charset="0"/>
                <a:ea typeface="Calibri" pitchFamily="34" charset="-122"/>
                <a:cs typeface="Calibri" pitchFamily="34" charset="-120"/>
              </a:rPr>
              <a:t>Oklahoma City water-main breaks: </a:t>
            </a:r>
            <a:pPr indent="0" marL="0">
              <a:lnSpc>
                <a:spcPct val="110000"/>
              </a:lnSpc>
              <a:spcAft>
                <a:spcPts val="900"/>
              </a:spcAft>
              <a:buNone/>
            </a:pPr>
            <a:r>
              <a:rPr lang="en-US" sz="1500" b="1" dirty="0">
                <a:solidFill>
                  <a:srgbClr val="14232A"/>
                </a:solidFill>
                <a:latin typeface="Calibri" pitchFamily="34" charset="0"/>
                <a:ea typeface="Calibri" pitchFamily="34" charset="-122"/>
                <a:cs typeface="Calibri" pitchFamily="34" charset="-120"/>
              </a:rPr>
              <a:t>okc.gov  /  kosu.org</a:t>
            </a:r>
            <a:endParaRPr lang="en-US" sz="1500" dirty="0"/>
          </a:p>
        </p:txBody>
      </p:sp>
      <p:sp>
        <p:nvSpPr>
          <p:cNvPr id="6" name="Shape 3"/>
          <p:cNvSpPr/>
          <p:nvPr/>
        </p:nvSpPr>
        <p:spPr>
          <a:xfrm>
            <a:off x="548640" y="6382512"/>
            <a:ext cx="11091672" cy="0"/>
          </a:xfrm>
          <a:prstGeom prst="line">
            <a:avLst/>
          </a:prstGeom>
          <a:noFill/>
          <a:ln w="12700">
            <a:solidFill>
              <a:srgbClr val="D6DFE4"/>
            </a:solidFill>
            <a:prstDash val="solid"/>
          </a:ln>
        </p:spPr>
      </p:sp>
      <p:sp>
        <p:nvSpPr>
          <p:cNvPr id="7" name="Text 4"/>
          <p:cNvSpPr txBox="1"/>
          <p:nvPr/>
        </p:nvSpPr>
        <p:spPr>
          <a:xfrm>
            <a:off x="10881360" y="6400800"/>
            <a:ext cx="758952" cy="274320"/>
          </a:xfrm>
          <a:prstGeom prst="rect">
            <a:avLst/>
          </a:prstGeom>
          <a:noFill/>
          <a:ln/>
        </p:spPr>
        <p:txBody>
          <a:bodyPr wrap="square" lIns="0" tIns="0" rIns="0" bIns="0" rtlCol="0" anchor="ctr"/>
          <a:lstStyle/>
          <a:p>
            <a:pPr algn="r" indent="0" marL="0">
              <a:buNone/>
            </a:pPr>
            <a:r>
              <a:rPr lang="en-US" sz="1200" b="1" dirty="0">
                <a:solidFill>
                  <a:srgbClr val="5F7079"/>
                </a:solidFill>
                <a:latin typeface="Calibri" pitchFamily="34" charset="0"/>
                <a:ea typeface="Calibri" pitchFamily="34" charset="-122"/>
                <a:cs typeface="Calibri" pitchFamily="34" charset="-120"/>
              </a:rPr>
              <a:t>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2026-09-10T23:42:10Z</dcterms:created>
  <dcterms:modified xsi:type="dcterms:W3CDTF">2026-09-10T23:42:10Z</dcterms:modified>
</cp:coreProperties>
</file>