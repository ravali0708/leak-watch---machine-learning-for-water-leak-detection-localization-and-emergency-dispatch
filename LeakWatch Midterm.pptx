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792" autoAdjust="0"/>
  </p:normalViewPr>
  <p:slideViewPr>
    <p:cSldViewPr snapToGrid="0" snapToObjects="1">
      <p:cViewPr varScale="1">
        <p:scale>
          <a:sx n="62" d="100"/>
          <a:sy n="62" d="100"/>
        </p:scale>
        <p:origin x="145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257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professor and introduce yourself. Say: My project is LeakWatch - it uses machine learning to detect water leaks, find their area, and send the nearest crew. Today I will explain what I have built so far and what I will do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roadmap. Say: first I will introduce the project - what it is, why it matters, and how it works. Then my methodology, then what I have done - the data, the feature, the model and the results, then the results in detail, and finally what is left to 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t>
            </a:r>
            <a:r>
              <a:rPr lang="en-IN" dirty="0" err="1"/>
              <a:t>LeakWatch</a:t>
            </a:r>
            <a:r>
              <a:rPr lang="en-IN" dirty="0"/>
              <a:t> is a machine-learning system for detecting water leaks. The whole thing is built on one piece of physics: when a pipe springs a leak, water escapes, and the pressure in the pipes nearby falls. So a pressure drop is like a fingerprint of a leak. My system reads pressure from a few sensors and does three things — it detects whether there’s a leak, it localizes which area the leak is in, and it responds by finding the nearest repair crew and route. The goal is to catch leaks early and automatically, instead of waiting weeks for water to show up on the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matters because the numbers are huge. Water utilities lose somewhere between 30 and 50 percent of their clean, treated water to leaks in underground pipes. These leaks are invisible — nobody sees them until water finally surfaces, which can take weeks or even months. And it’s not just water being wasted; it’s all the energy and money spent cleaning and pumping that water too. Right now, finding leaks is slow and manual. Machine learning can flag a leak the moment the pressure pattern changes. So the problem I’m solving is detecting and locating leaks earlier, using just a few sensors, so repairs can happen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system works in three steps. First, DETECT — a machine-learning model reads the pressure drops from the sensors and decides: is there a leak, yes or no. Second, LOCALIZE — a model figures out which area of the network the leak is in. Third, RESPOND — the system finds the nearest repair crew and the shortest route to send them, and that step is a plain calculation, not machine learning. I’ve built and tested the detection step and a model comparison. Localization and the response step are my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“These are the tools I used. EPANET is a water simulator made by the US EPA — it knows the physics of water in pipes. WNTR is the Python tool that runs EPANET from my code. Net3 is the standard example network I run on. Scikit-learn is the machine-learning library that gives me my model. Pandas and NumPy build my data table and add realistic noise. Matplotlib draws my charts. And I write and run everything in Google </a:t>
            </a:r>
            <a:r>
              <a:rPr lang="en-IN" dirty="0" err="1"/>
              <a:t>Colab</a:t>
            </a:r>
            <a:r>
              <a:rPr lang="en-IN" dirty="0"/>
              <a:t>, storing it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water network my project runs on. It’s called Net3 — a standard example network from the US EPA, built right into the WNTR tool. I did not create it; it’s a recognized benchmark, which makes my work credible. It has 92 junctions and 117 pipes. The teal dots you see are my six sensors — those are the only places I read pressure from. And this is actually the heart of the challenge: I’m trying to catch a leak anywhere across 117 pipes using just six sensors. That’s what makes it a real machine-learning problem and not something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approach has four steps. First, I generate my own data by simulating the network and placing leaks. Second, I engineer a feature — I turn the raw pressure into a smarter input called the drop from normal. Third, I train a Random Forest model to detect a leak from those drops. And fourth, I evaluate it on unseen leaks and compare it against other models. The next few slides show each of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my training data. Since there’s no free public dataset of real </a:t>
            </a:r>
            <a:r>
              <a:rPr lang="en-IN" dirty="0" err="1"/>
              <a:t>labeled</a:t>
            </a:r>
            <a:r>
              <a:rPr lang="en-IN" dirty="0"/>
              <a:t> leaks, I generate my own with the simulator. Each row here is one moment in time at my six sensors. The ‘drop’ columns are the inputs to my model, and the last column, ‘leak’, is the true answer — 1 for leak, 0 for no leak. You can see the pattern right in the table: the grey rows, which are no-leak, have small drops near zero, and the red rows, which are leaks, have big drops. In total I have 588 </a:t>
            </a:r>
            <a:r>
              <a:rPr lang="en-IN" dirty="0" err="1"/>
              <a:t>labeled</a:t>
            </a:r>
            <a:r>
              <a:rPr lang="en-IN" dirty="0"/>
              <a:t> rows. The key point is that because I place every leak myself, I always know the true answer — and that’s exactly what lets me train the model and measure how accurate it is. To be honest, this is simulated data, not real hardware — but that’s standard in this field, and later I plan to validate on a real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clever part of my project. If I just fed the model raw pressure, a leak would be hard to spot, because pressure naturally rises and falls all day as people use water — the leak hides inside that daily movement. So instead I engineer a feature called the drop from normal. For each sensor, I take what the pressure should be when everything’s healthy, and I subtract the actual reading — that difference is the drop. Because I’m comparing each reading to what’s normal at that same time, the daily pattern cancels out, and only a real leak stands out as a big drop. So small drops mean no leak, and big drops mean a leak. This chart proves it: the pressure is steady before the leak starts at hour 12, then it clearly drops after. Turning raw data into a smarter input like this is called feature engineering, and it’s a big reason my model works so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model is a Random Forest. A Random Forest is made of many decision trees — about a hundred — and each one is trained on a slightly different random slice of the data. When a new reading comes in, every tree votes ‘leak’ or ‘no leak,’ and the majority wins. The reason this works so well is that any single tree can make a silly mistake, but a hundred trees rarely all make the same mistake, so their errors cancel out. That makes the forest much steadier and more accurate than one tree, and robust to noisy sensor readings. That’s why I chose it for my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“Here’s my main result: my detection model is about 98 percent accurate. And importantly, that’s measured on leaks the model never saw during training — I test on unseen leaks, because testing on data it already learned would be cheating and wouldn’t be honest. The few mistakes it makes are on the very smallest leaks, which make the faintest pressure drops and are naturally the hardest to catch. And this isn’t a fake, suspicious 100 percent — because I add a little sensor noise to make the data realistic, so 98 percent is an honest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“You asked me to justify why I chose Random Forest, so I ran a fair comparison. I took the same data and the same test, and I compared Random Forest against two other models — K-Nearest </a:t>
            </a:r>
            <a:r>
              <a:rPr lang="en-IN" dirty="0" err="1"/>
              <a:t>Neighbors</a:t>
            </a:r>
            <a:r>
              <a:rPr lang="en-IN" dirty="0"/>
              <a:t> and a single Decision Tree. K-Nearest </a:t>
            </a:r>
            <a:r>
              <a:rPr lang="en-IN" dirty="0" err="1"/>
              <a:t>Neighbors</a:t>
            </a:r>
            <a:r>
              <a:rPr lang="en-IN" dirty="0"/>
              <a:t> scored 98.5 percent, the Decision Tree 94.9, and Random Forest 98.0. What’s interesting is they’re all high and basically tied — and that actually tells me something important: detection is the easy part of the problem, so the score alone can’t decide my model. I keep Random Forest because it’s the one that stays most reliable on the harder localization step and with noisy data, and it even shows me which sensors mattered most. So I’m choosing it for the whole pipeline, not just this one easy step.”</a:t>
            </a:r>
          </a:p>
          <a:p>
            <a:endParaRPr lang="en-IN" dirty="0"/>
          </a:p>
          <a:p>
            <a:r>
              <a:rPr lang="en-IN" dirty="0"/>
              <a:t>“For localization — finding which area the leak is in — I’ll use the same Random Forest. And it’ll actually work better there than the other models, for a clear reason. Detection is a simple yes/no question, so every model handled it easily. But localization is harder — it’s a multiple-choice question: which area? That’s where a straight-line model like KNN or a single Decision Tree gets weaker, because the areas aren’t cleanly separable. Random Forest handles that kind of harder, multi-choice problem well, because it combines a hundred trees that vote, so it stays steady where the simpler models wobble. That’s the real reason I keep Random Forest across the whole project — not because it won on detection, but because it’s the one that holds up on the harder localization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summarize what’s complete and running in my notebook: I set up the environment and network, I generated my own </a:t>
            </a:r>
            <a:r>
              <a:rPr lang="en-IN" dirty="0" err="1"/>
              <a:t>labeled</a:t>
            </a:r>
            <a:r>
              <a:rPr lang="en-IN" dirty="0"/>
              <a:t> dataset of 588 rows, I engineered the drop feature, I trained the Random Forest detection model, I measured its accuracy at about 98 percent, and I did the model comparison to justify my choice. So the detection part of my project is fully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“Here’s what I still have to do. First, build the localization model to find which area the leak is in. Second, add the response step that finds the nearest crew and route. Third, combine detect, localize, and respond into one smooth pipeline. Fourth, validate my method on a real public dataset, to prove it works beyond my own simulation. And finally, write up the final report with clean code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conclude: </a:t>
            </a:r>
            <a:r>
              <a:rPr lang="en-IN" dirty="0" err="1"/>
              <a:t>LeakWatch</a:t>
            </a:r>
            <a:r>
              <a:rPr lang="en-IN" dirty="0"/>
              <a:t> detects water leaks from just a few pressure sensors using machine learning. So far I’ve built the data, engineered the drop feature, and trained a Random Forest that detects leaks at about 98 percent, and I justified that choice with a model comparison. What’s left is localization, the response step, validating on real data, and the write-up. The whole idea in three words is detect, localize, respond — and the detection part is built and validated, with the rest in progress.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B"/>
        </a:solidFill>
        <a:effectLst/>
      </p:bgPr>
    </p:bg>
    <p:spTree>
      <p:nvGrpSpPr>
        <p:cNvPr id="1" name=""/>
        <p:cNvGrpSpPr/>
        <p:nvPr/>
      </p:nvGrpSpPr>
      <p:grpSpPr>
        <a:xfrm>
          <a:off x="0" y="0"/>
          <a:ext cx="0" cy="0"/>
          <a:chOff x="0" y="0"/>
          <a:chExt cx="0" cy="0"/>
        </a:xfrm>
      </p:grpSpPr>
      <p:sp>
        <p:nvSpPr>
          <p:cNvPr id="2" name="Shape 0"/>
          <p:cNvSpPr/>
          <p:nvPr/>
        </p:nvSpPr>
        <p:spPr>
          <a:xfrm>
            <a:off x="0" y="5852160"/>
            <a:ext cx="12188952" cy="1005840"/>
          </a:xfrm>
          <a:prstGeom prst="rect">
            <a:avLst/>
          </a:prstGeom>
          <a:solidFill>
            <a:srgbClr val="0E6B74"/>
          </a:solidFill>
          <a:ln/>
        </p:spPr>
      </p:sp>
      <p:sp>
        <p:nvSpPr>
          <p:cNvPr id="3" name="Shape 1"/>
          <p:cNvSpPr/>
          <p:nvPr/>
        </p:nvSpPr>
        <p:spPr>
          <a:xfrm>
            <a:off x="0" y="6172200"/>
            <a:ext cx="12188952" cy="685800"/>
          </a:xfrm>
          <a:prstGeom prst="rect">
            <a:avLst/>
          </a:prstGeom>
          <a:solidFill>
            <a:srgbClr val="0E7C86"/>
          </a:solidFill>
          <a:ln/>
        </p:spPr>
      </p:sp>
      <p:sp>
        <p:nvSpPr>
          <p:cNvPr id="4" name="Shape 2"/>
          <p:cNvSpPr/>
          <p:nvPr/>
        </p:nvSpPr>
        <p:spPr>
          <a:xfrm>
            <a:off x="0" y="6446520"/>
            <a:ext cx="12188952" cy="411480"/>
          </a:xfrm>
          <a:prstGeom prst="rect">
            <a:avLst/>
          </a:prstGeom>
          <a:solidFill>
            <a:srgbClr val="3FA7BE"/>
          </a:solidFill>
          <a:ln/>
        </p:spPr>
      </p:sp>
      <p:sp>
        <p:nvSpPr>
          <p:cNvPr id="5" name="Shape 3"/>
          <p:cNvSpPr/>
          <p:nvPr/>
        </p:nvSpPr>
        <p:spPr>
          <a:xfrm>
            <a:off x="0" y="0"/>
            <a:ext cx="12188952" cy="201168"/>
          </a:xfrm>
          <a:prstGeom prst="rect">
            <a:avLst/>
          </a:prstGeom>
          <a:solidFill>
            <a:srgbClr val="0E7C86"/>
          </a:solidFill>
          <a:ln/>
        </p:spPr>
      </p:sp>
      <p:sp>
        <p:nvSpPr>
          <p:cNvPr id="6" name="Shape 4"/>
          <p:cNvSpPr/>
          <p:nvPr/>
        </p:nvSpPr>
        <p:spPr>
          <a:xfrm>
            <a:off x="0" y="201168"/>
            <a:ext cx="12188952" cy="54864"/>
          </a:xfrm>
          <a:prstGeom prst="rect">
            <a:avLst/>
          </a:prstGeom>
          <a:solidFill>
            <a:srgbClr val="3FA7BE"/>
          </a:solidFill>
          <a:ln/>
        </p:spPr>
      </p:sp>
      <p:sp>
        <p:nvSpPr>
          <p:cNvPr id="7" name="Text 5"/>
          <p:cNvSpPr/>
          <p:nvPr/>
        </p:nvSpPr>
        <p:spPr>
          <a:xfrm>
            <a:off x="731520" y="1600200"/>
            <a:ext cx="10698480" cy="1005840"/>
          </a:xfrm>
          <a:prstGeom prst="rect">
            <a:avLst/>
          </a:prstGeom>
          <a:noFill/>
          <a:ln/>
        </p:spPr>
        <p:txBody>
          <a:bodyPr wrap="square"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LeakWatch</a:t>
            </a:r>
            <a:endParaRPr lang="en-US" sz="5600" dirty="0"/>
          </a:p>
        </p:txBody>
      </p:sp>
      <p:sp>
        <p:nvSpPr>
          <p:cNvPr id="8" name="Shape 6"/>
          <p:cNvSpPr/>
          <p:nvPr/>
        </p:nvSpPr>
        <p:spPr>
          <a:xfrm>
            <a:off x="822960" y="2697480"/>
            <a:ext cx="3291840" cy="45720"/>
          </a:xfrm>
          <a:prstGeom prst="rect">
            <a:avLst/>
          </a:prstGeom>
          <a:solidFill>
            <a:srgbClr val="3FA7BE"/>
          </a:solidFill>
          <a:ln/>
        </p:spPr>
      </p:sp>
      <p:sp>
        <p:nvSpPr>
          <p:cNvPr id="9" name="Text 7"/>
          <p:cNvSpPr/>
          <p:nvPr/>
        </p:nvSpPr>
        <p:spPr>
          <a:xfrm>
            <a:off x="731520" y="2880360"/>
            <a:ext cx="10698480" cy="640080"/>
          </a:xfrm>
          <a:prstGeom prst="rect">
            <a:avLst/>
          </a:prstGeom>
          <a:noFill/>
          <a:ln/>
        </p:spPr>
        <p:txBody>
          <a:bodyPr wrap="square" rtlCol="0" anchor="ctr"/>
          <a:lstStyle/>
          <a:p>
            <a:pPr marL="0" indent="0">
              <a:buNone/>
            </a:pPr>
            <a:r>
              <a:rPr lang="en-US" sz="1900" i="1" dirty="0">
                <a:solidFill>
                  <a:srgbClr val="3FA7BE"/>
                </a:solidFill>
                <a:latin typeface="Georgia" pitchFamily="34" charset="0"/>
                <a:ea typeface="Georgia" pitchFamily="34" charset="-122"/>
                <a:cs typeface="Georgia" pitchFamily="34" charset="-120"/>
              </a:rPr>
              <a:t>Machine Learning for Water-Leak Detection, Localization and Response</a:t>
            </a:r>
            <a:endParaRPr lang="en-US" sz="1900" dirty="0"/>
          </a:p>
        </p:txBody>
      </p:sp>
      <p:sp>
        <p:nvSpPr>
          <p:cNvPr id="10" name="Text 8"/>
          <p:cNvSpPr/>
          <p:nvPr/>
        </p:nvSpPr>
        <p:spPr>
          <a:xfrm>
            <a:off x="731520" y="3931920"/>
            <a:ext cx="10698480" cy="457200"/>
          </a:xfrm>
          <a:prstGeom prst="rect">
            <a:avLst/>
          </a:prstGeom>
          <a:noFill/>
          <a:ln/>
        </p:spPr>
        <p:txBody>
          <a:bodyPr wrap="square" rtlCol="0" anchor="ctr"/>
          <a:lstStyle/>
          <a:p>
            <a:pPr marL="0" indent="0">
              <a:buNone/>
            </a:pPr>
            <a:r>
              <a:rPr lang="en-US" sz="1700" dirty="0">
                <a:solidFill>
                  <a:srgbClr val="DCEEF1"/>
                </a:solidFill>
                <a:latin typeface="Calibri" pitchFamily="34" charset="0"/>
                <a:ea typeface="Calibri" pitchFamily="34" charset="-122"/>
                <a:cs typeface="Calibri" pitchFamily="34" charset="-120"/>
              </a:rPr>
              <a:t>Midterm Progress Presentation</a:t>
            </a:r>
            <a:endParaRPr lang="en-US" sz="1700" dirty="0"/>
          </a:p>
        </p:txBody>
      </p:sp>
      <p:sp>
        <p:nvSpPr>
          <p:cNvPr id="11" name="Text 9"/>
          <p:cNvSpPr/>
          <p:nvPr/>
        </p:nvSpPr>
        <p:spPr>
          <a:xfrm>
            <a:off x="731520" y="4407408"/>
            <a:ext cx="10698480" cy="365760"/>
          </a:xfrm>
          <a:prstGeom prst="rect">
            <a:avLst/>
          </a:prstGeom>
          <a:noFill/>
          <a:ln/>
        </p:spPr>
        <p:txBody>
          <a:bodyPr wrap="square" rtlCol="0" anchor="ctr"/>
          <a:lstStyle/>
          <a:p>
            <a:pPr marL="0" indent="0">
              <a:buNone/>
            </a:pPr>
            <a:r>
              <a:rPr lang="en-US" sz="1400" dirty="0">
                <a:solidFill>
                  <a:srgbClr val="7E95A0"/>
                </a:solidFill>
                <a:latin typeface="Calibri" pitchFamily="34" charset="0"/>
                <a:ea typeface="Calibri" pitchFamily="34" charset="-122"/>
                <a:cs typeface="Calibri" pitchFamily="34" charset="-120"/>
              </a:rPr>
              <a:t>CH Sri Ravali   |   MS Data Science | B00120507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OUTLINE</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What this presentation covers</a:t>
            </a:r>
            <a:endParaRPr lang="en-US" sz="2500" dirty="0"/>
          </a:p>
        </p:txBody>
      </p:sp>
      <p:sp>
        <p:nvSpPr>
          <p:cNvPr id="7" name="Shape 5"/>
          <p:cNvSpPr/>
          <p:nvPr/>
        </p:nvSpPr>
        <p:spPr>
          <a:xfrm>
            <a:off x="685800" y="1508760"/>
            <a:ext cx="10789920" cy="868680"/>
          </a:xfrm>
          <a:prstGeom prst="roundRect">
            <a:avLst>
              <a:gd name="adj" fmla="val 8421"/>
            </a:avLst>
          </a:prstGeom>
          <a:solidFill>
            <a:srgbClr val="F4F9FA"/>
          </a:solidFill>
          <a:ln w="12700">
            <a:solidFill>
              <a:srgbClr val="DCEEF1"/>
            </a:solidFill>
            <a:prstDash val="solid"/>
          </a:ln>
        </p:spPr>
      </p:sp>
      <p:sp>
        <p:nvSpPr>
          <p:cNvPr id="8" name="Shape 6"/>
          <p:cNvSpPr/>
          <p:nvPr/>
        </p:nvSpPr>
        <p:spPr>
          <a:xfrm>
            <a:off x="868680" y="1709928"/>
            <a:ext cx="475488" cy="475488"/>
          </a:xfrm>
          <a:prstGeom prst="roundRect">
            <a:avLst>
              <a:gd name="adj" fmla="val 57692"/>
            </a:avLst>
          </a:prstGeom>
          <a:solidFill>
            <a:srgbClr val="0E7C86"/>
          </a:solidFill>
          <a:ln/>
        </p:spPr>
      </p:sp>
      <p:sp>
        <p:nvSpPr>
          <p:cNvPr id="9" name="Text 7"/>
          <p:cNvSpPr/>
          <p:nvPr/>
        </p:nvSpPr>
        <p:spPr>
          <a:xfrm>
            <a:off x="868680" y="1709928"/>
            <a:ext cx="475488" cy="475488"/>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10" name="Text 8"/>
          <p:cNvSpPr/>
          <p:nvPr/>
        </p:nvSpPr>
        <p:spPr>
          <a:xfrm>
            <a:off x="1554480" y="1600200"/>
            <a:ext cx="3291840" cy="685800"/>
          </a:xfrm>
          <a:prstGeom prst="rect">
            <a:avLst/>
          </a:prstGeom>
          <a:noFill/>
          <a:ln/>
        </p:spPr>
        <p:txBody>
          <a:bodyPr wrap="square" rtlCol="0" anchor="ctr"/>
          <a:lstStyle/>
          <a:p>
            <a:pPr marL="0" indent="0">
              <a:buNone/>
            </a:pPr>
            <a:r>
              <a:rPr lang="en-US" sz="1700" b="1" dirty="0">
                <a:solidFill>
                  <a:srgbClr val="0B2A3B"/>
                </a:solidFill>
                <a:latin typeface="Georgia" pitchFamily="34" charset="0"/>
                <a:ea typeface="Georgia" pitchFamily="34" charset="-122"/>
                <a:cs typeface="Georgia" pitchFamily="34" charset="-120"/>
              </a:rPr>
              <a:t>Introduction</a:t>
            </a:r>
            <a:endParaRPr lang="en-US" sz="1700" dirty="0"/>
          </a:p>
        </p:txBody>
      </p:sp>
      <p:sp>
        <p:nvSpPr>
          <p:cNvPr id="11" name="Text 9"/>
          <p:cNvSpPr/>
          <p:nvPr/>
        </p:nvSpPr>
        <p:spPr>
          <a:xfrm>
            <a:off x="4846320" y="1600200"/>
            <a:ext cx="6492240" cy="68580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what LeakWatch is, why it matters, and how it works</a:t>
            </a:r>
            <a:endParaRPr lang="en-US" sz="1350" dirty="0"/>
          </a:p>
        </p:txBody>
      </p:sp>
      <p:sp>
        <p:nvSpPr>
          <p:cNvPr id="12" name="Shape 10"/>
          <p:cNvSpPr/>
          <p:nvPr/>
        </p:nvSpPr>
        <p:spPr>
          <a:xfrm>
            <a:off x="685800" y="2478024"/>
            <a:ext cx="10789920" cy="868680"/>
          </a:xfrm>
          <a:prstGeom prst="roundRect">
            <a:avLst>
              <a:gd name="adj" fmla="val 8421"/>
            </a:avLst>
          </a:prstGeom>
          <a:solidFill>
            <a:srgbClr val="F4F9FA"/>
          </a:solidFill>
          <a:ln w="12700">
            <a:solidFill>
              <a:srgbClr val="DCEEF1"/>
            </a:solidFill>
            <a:prstDash val="solid"/>
          </a:ln>
        </p:spPr>
      </p:sp>
      <p:sp>
        <p:nvSpPr>
          <p:cNvPr id="13" name="Shape 11"/>
          <p:cNvSpPr/>
          <p:nvPr/>
        </p:nvSpPr>
        <p:spPr>
          <a:xfrm>
            <a:off x="868680" y="2679192"/>
            <a:ext cx="475488" cy="475488"/>
          </a:xfrm>
          <a:prstGeom prst="roundRect">
            <a:avLst>
              <a:gd name="adj" fmla="val 57692"/>
            </a:avLst>
          </a:prstGeom>
          <a:solidFill>
            <a:srgbClr val="0E7C86"/>
          </a:solidFill>
          <a:ln/>
        </p:spPr>
      </p:sp>
      <p:sp>
        <p:nvSpPr>
          <p:cNvPr id="14" name="Text 12"/>
          <p:cNvSpPr/>
          <p:nvPr/>
        </p:nvSpPr>
        <p:spPr>
          <a:xfrm>
            <a:off x="868680" y="2679192"/>
            <a:ext cx="475488" cy="475488"/>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5" name="Text 13"/>
          <p:cNvSpPr/>
          <p:nvPr/>
        </p:nvSpPr>
        <p:spPr>
          <a:xfrm>
            <a:off x="1554480" y="2569464"/>
            <a:ext cx="3291840" cy="685800"/>
          </a:xfrm>
          <a:prstGeom prst="rect">
            <a:avLst/>
          </a:prstGeom>
          <a:noFill/>
          <a:ln/>
        </p:spPr>
        <p:txBody>
          <a:bodyPr wrap="square" rtlCol="0" anchor="ctr"/>
          <a:lstStyle/>
          <a:p>
            <a:pPr marL="0" indent="0">
              <a:buNone/>
            </a:pPr>
            <a:r>
              <a:rPr lang="en-US" sz="1700" b="1" dirty="0">
                <a:solidFill>
                  <a:srgbClr val="0B2A3B"/>
                </a:solidFill>
                <a:latin typeface="Georgia" pitchFamily="34" charset="0"/>
                <a:ea typeface="Georgia" pitchFamily="34" charset="-122"/>
                <a:cs typeface="Georgia" pitchFamily="34" charset="-120"/>
              </a:rPr>
              <a:t>Methodology</a:t>
            </a:r>
            <a:endParaRPr lang="en-US" sz="1700" dirty="0"/>
          </a:p>
        </p:txBody>
      </p:sp>
      <p:sp>
        <p:nvSpPr>
          <p:cNvPr id="16" name="Text 14"/>
          <p:cNvSpPr/>
          <p:nvPr/>
        </p:nvSpPr>
        <p:spPr>
          <a:xfrm>
            <a:off x="4846320" y="2569464"/>
            <a:ext cx="6492240" cy="68580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how I approached the problem, step by step</a:t>
            </a:r>
            <a:endParaRPr lang="en-US" sz="1350" dirty="0"/>
          </a:p>
        </p:txBody>
      </p:sp>
      <p:sp>
        <p:nvSpPr>
          <p:cNvPr id="17" name="Shape 15"/>
          <p:cNvSpPr/>
          <p:nvPr/>
        </p:nvSpPr>
        <p:spPr>
          <a:xfrm>
            <a:off x="685800" y="3447288"/>
            <a:ext cx="10789920" cy="868680"/>
          </a:xfrm>
          <a:prstGeom prst="roundRect">
            <a:avLst>
              <a:gd name="adj" fmla="val 8421"/>
            </a:avLst>
          </a:prstGeom>
          <a:solidFill>
            <a:srgbClr val="F4F9FA"/>
          </a:solidFill>
          <a:ln w="12700">
            <a:solidFill>
              <a:srgbClr val="DCEEF1"/>
            </a:solidFill>
            <a:prstDash val="solid"/>
          </a:ln>
        </p:spPr>
      </p:sp>
      <p:sp>
        <p:nvSpPr>
          <p:cNvPr id="18" name="Shape 16"/>
          <p:cNvSpPr/>
          <p:nvPr/>
        </p:nvSpPr>
        <p:spPr>
          <a:xfrm>
            <a:off x="868680" y="3648456"/>
            <a:ext cx="475488" cy="475488"/>
          </a:xfrm>
          <a:prstGeom prst="roundRect">
            <a:avLst>
              <a:gd name="adj" fmla="val 57692"/>
            </a:avLst>
          </a:prstGeom>
          <a:solidFill>
            <a:srgbClr val="0E7C86"/>
          </a:solidFill>
          <a:ln/>
        </p:spPr>
      </p:sp>
      <p:sp>
        <p:nvSpPr>
          <p:cNvPr id="19" name="Text 17"/>
          <p:cNvSpPr/>
          <p:nvPr/>
        </p:nvSpPr>
        <p:spPr>
          <a:xfrm>
            <a:off x="868680" y="3648456"/>
            <a:ext cx="475488" cy="475488"/>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20" name="Text 18"/>
          <p:cNvSpPr/>
          <p:nvPr/>
        </p:nvSpPr>
        <p:spPr>
          <a:xfrm>
            <a:off x="1554480" y="3538728"/>
            <a:ext cx="3291840" cy="685800"/>
          </a:xfrm>
          <a:prstGeom prst="rect">
            <a:avLst/>
          </a:prstGeom>
          <a:noFill/>
          <a:ln/>
        </p:spPr>
        <p:txBody>
          <a:bodyPr wrap="square" rtlCol="0" anchor="ctr"/>
          <a:lstStyle/>
          <a:p>
            <a:pPr marL="0" indent="0">
              <a:buNone/>
            </a:pPr>
            <a:r>
              <a:rPr lang="en-US" sz="1700" b="1" dirty="0">
                <a:solidFill>
                  <a:srgbClr val="0B2A3B"/>
                </a:solidFill>
                <a:latin typeface="Georgia" pitchFamily="34" charset="0"/>
                <a:ea typeface="Georgia" pitchFamily="34" charset="-122"/>
                <a:cs typeface="Georgia" pitchFamily="34" charset="-120"/>
              </a:rPr>
              <a:t>What I have done</a:t>
            </a:r>
            <a:endParaRPr lang="en-US" sz="1700" dirty="0"/>
          </a:p>
        </p:txBody>
      </p:sp>
      <p:sp>
        <p:nvSpPr>
          <p:cNvPr id="21" name="Text 19"/>
          <p:cNvSpPr/>
          <p:nvPr/>
        </p:nvSpPr>
        <p:spPr>
          <a:xfrm>
            <a:off x="4846320" y="3538728"/>
            <a:ext cx="6492240" cy="68580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the data, the feature, the model, and the results</a:t>
            </a:r>
            <a:endParaRPr lang="en-US" sz="1350" dirty="0"/>
          </a:p>
        </p:txBody>
      </p:sp>
      <p:sp>
        <p:nvSpPr>
          <p:cNvPr id="22" name="Shape 20"/>
          <p:cNvSpPr/>
          <p:nvPr/>
        </p:nvSpPr>
        <p:spPr>
          <a:xfrm>
            <a:off x="685800" y="4416552"/>
            <a:ext cx="10789920" cy="868680"/>
          </a:xfrm>
          <a:prstGeom prst="roundRect">
            <a:avLst>
              <a:gd name="adj" fmla="val 8421"/>
            </a:avLst>
          </a:prstGeom>
          <a:solidFill>
            <a:srgbClr val="F4F9FA"/>
          </a:solidFill>
          <a:ln w="12700">
            <a:solidFill>
              <a:srgbClr val="DCEEF1"/>
            </a:solidFill>
            <a:prstDash val="solid"/>
          </a:ln>
        </p:spPr>
      </p:sp>
      <p:sp>
        <p:nvSpPr>
          <p:cNvPr id="23" name="Shape 21"/>
          <p:cNvSpPr/>
          <p:nvPr/>
        </p:nvSpPr>
        <p:spPr>
          <a:xfrm>
            <a:off x="868680" y="4617720"/>
            <a:ext cx="475488" cy="475488"/>
          </a:xfrm>
          <a:prstGeom prst="roundRect">
            <a:avLst>
              <a:gd name="adj" fmla="val 57692"/>
            </a:avLst>
          </a:prstGeom>
          <a:solidFill>
            <a:srgbClr val="0E7C86"/>
          </a:solidFill>
          <a:ln/>
        </p:spPr>
      </p:sp>
      <p:sp>
        <p:nvSpPr>
          <p:cNvPr id="24" name="Text 22"/>
          <p:cNvSpPr/>
          <p:nvPr/>
        </p:nvSpPr>
        <p:spPr>
          <a:xfrm>
            <a:off x="868680" y="4617720"/>
            <a:ext cx="475488" cy="475488"/>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25" name="Text 23"/>
          <p:cNvSpPr/>
          <p:nvPr/>
        </p:nvSpPr>
        <p:spPr>
          <a:xfrm>
            <a:off x="1554480" y="4507992"/>
            <a:ext cx="3291840" cy="685800"/>
          </a:xfrm>
          <a:prstGeom prst="rect">
            <a:avLst/>
          </a:prstGeom>
          <a:noFill/>
          <a:ln/>
        </p:spPr>
        <p:txBody>
          <a:bodyPr wrap="square" rtlCol="0" anchor="ctr"/>
          <a:lstStyle/>
          <a:p>
            <a:pPr marL="0" indent="0">
              <a:buNone/>
            </a:pPr>
            <a:r>
              <a:rPr lang="en-US" sz="1700" b="1" dirty="0">
                <a:solidFill>
                  <a:srgbClr val="0B2A3B"/>
                </a:solidFill>
                <a:latin typeface="Georgia" pitchFamily="34" charset="0"/>
                <a:ea typeface="Georgia" pitchFamily="34" charset="-122"/>
                <a:cs typeface="Georgia" pitchFamily="34" charset="-120"/>
              </a:rPr>
              <a:t>Results</a:t>
            </a:r>
            <a:endParaRPr lang="en-US" sz="1700" dirty="0"/>
          </a:p>
        </p:txBody>
      </p:sp>
      <p:sp>
        <p:nvSpPr>
          <p:cNvPr id="26" name="Text 24"/>
          <p:cNvSpPr/>
          <p:nvPr/>
        </p:nvSpPr>
        <p:spPr>
          <a:xfrm>
            <a:off x="4846320" y="4507992"/>
            <a:ext cx="6492240" cy="68580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detection accuracy and the model comparison</a:t>
            </a:r>
            <a:endParaRPr lang="en-US" sz="1350" dirty="0"/>
          </a:p>
        </p:txBody>
      </p:sp>
      <p:sp>
        <p:nvSpPr>
          <p:cNvPr id="27" name="Shape 25"/>
          <p:cNvSpPr/>
          <p:nvPr/>
        </p:nvSpPr>
        <p:spPr>
          <a:xfrm>
            <a:off x="685800" y="5385816"/>
            <a:ext cx="10789920" cy="868680"/>
          </a:xfrm>
          <a:prstGeom prst="roundRect">
            <a:avLst>
              <a:gd name="adj" fmla="val 8421"/>
            </a:avLst>
          </a:prstGeom>
          <a:solidFill>
            <a:srgbClr val="F4F9FA"/>
          </a:solidFill>
          <a:ln w="12700">
            <a:solidFill>
              <a:srgbClr val="DCEEF1"/>
            </a:solidFill>
            <a:prstDash val="solid"/>
          </a:ln>
        </p:spPr>
      </p:sp>
      <p:sp>
        <p:nvSpPr>
          <p:cNvPr id="28" name="Shape 26"/>
          <p:cNvSpPr/>
          <p:nvPr/>
        </p:nvSpPr>
        <p:spPr>
          <a:xfrm>
            <a:off x="868680" y="5586984"/>
            <a:ext cx="475488" cy="475488"/>
          </a:xfrm>
          <a:prstGeom prst="roundRect">
            <a:avLst>
              <a:gd name="adj" fmla="val 57692"/>
            </a:avLst>
          </a:prstGeom>
          <a:solidFill>
            <a:srgbClr val="0E7C86"/>
          </a:solidFill>
          <a:ln/>
        </p:spPr>
      </p:sp>
      <p:sp>
        <p:nvSpPr>
          <p:cNvPr id="29" name="Text 27"/>
          <p:cNvSpPr/>
          <p:nvPr/>
        </p:nvSpPr>
        <p:spPr>
          <a:xfrm>
            <a:off x="868680" y="5586984"/>
            <a:ext cx="475488" cy="475488"/>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5</a:t>
            </a:r>
            <a:endParaRPr lang="en-US" sz="1700" dirty="0"/>
          </a:p>
        </p:txBody>
      </p:sp>
      <p:sp>
        <p:nvSpPr>
          <p:cNvPr id="30" name="Text 28"/>
          <p:cNvSpPr/>
          <p:nvPr/>
        </p:nvSpPr>
        <p:spPr>
          <a:xfrm>
            <a:off x="1554480" y="5477256"/>
            <a:ext cx="3291840" cy="685800"/>
          </a:xfrm>
          <a:prstGeom prst="rect">
            <a:avLst/>
          </a:prstGeom>
          <a:noFill/>
          <a:ln/>
        </p:spPr>
        <p:txBody>
          <a:bodyPr wrap="square" rtlCol="0" anchor="ctr"/>
          <a:lstStyle/>
          <a:p>
            <a:pPr marL="0" indent="0">
              <a:buNone/>
            </a:pPr>
            <a:r>
              <a:rPr lang="en-US" sz="1700" b="1" dirty="0">
                <a:solidFill>
                  <a:srgbClr val="0B2A3B"/>
                </a:solidFill>
                <a:latin typeface="Georgia" pitchFamily="34" charset="0"/>
                <a:ea typeface="Georgia" pitchFamily="34" charset="-122"/>
                <a:cs typeface="Georgia" pitchFamily="34" charset="-120"/>
              </a:rPr>
              <a:t>What is next</a:t>
            </a:r>
            <a:endParaRPr lang="en-US" sz="1700" dirty="0"/>
          </a:p>
        </p:txBody>
      </p:sp>
      <p:sp>
        <p:nvSpPr>
          <p:cNvPr id="31" name="Text 29"/>
          <p:cNvSpPr/>
          <p:nvPr/>
        </p:nvSpPr>
        <p:spPr>
          <a:xfrm>
            <a:off x="4846320" y="5477256"/>
            <a:ext cx="6492240" cy="68580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the remaining steps to finish the project</a:t>
            </a:r>
            <a:endParaRPr lang="en-US" sz="1350" dirty="0"/>
          </a:p>
        </p:txBody>
      </p:sp>
      <p:sp>
        <p:nvSpPr>
          <p:cNvPr id="32" name="Text 30"/>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33" name="Text 31"/>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INTRODUCTION  -  1 OF 3</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What is LeakWatch?</a:t>
            </a:r>
            <a:endParaRPr lang="en-US" sz="2500" dirty="0"/>
          </a:p>
        </p:txBody>
      </p:sp>
      <p:sp>
        <p:nvSpPr>
          <p:cNvPr id="7" name="Shape 5"/>
          <p:cNvSpPr/>
          <p:nvPr/>
        </p:nvSpPr>
        <p:spPr>
          <a:xfrm>
            <a:off x="685800" y="1554480"/>
            <a:ext cx="201168" cy="201168"/>
          </a:xfrm>
          <a:prstGeom prst="rect">
            <a:avLst/>
          </a:prstGeom>
          <a:solidFill>
            <a:srgbClr val="0E7C86"/>
          </a:solidFill>
          <a:ln/>
        </p:spPr>
      </p:sp>
      <p:sp>
        <p:nvSpPr>
          <p:cNvPr id="8" name="Text 6"/>
          <p:cNvSpPr/>
          <p:nvPr/>
        </p:nvSpPr>
        <p:spPr>
          <a:xfrm>
            <a:off x="1097280" y="1463040"/>
            <a:ext cx="10332720" cy="822960"/>
          </a:xfrm>
          <a:prstGeom prst="rect">
            <a:avLst/>
          </a:prstGeom>
          <a:noFill/>
          <a:ln/>
        </p:spPr>
        <p:txBody>
          <a:bodyPr wrap="square" rtlCol="0" anchor="t"/>
          <a:lstStyle/>
          <a:p>
            <a:pPr marL="0" indent="0">
              <a:buNone/>
            </a:pPr>
            <a:r>
              <a:rPr lang="en-US" sz="1650" dirty="0">
                <a:solidFill>
                  <a:srgbClr val="2C3E45"/>
                </a:solidFill>
                <a:latin typeface="Calibri" pitchFamily="34" charset="0"/>
                <a:ea typeface="Calibri" pitchFamily="34" charset="-122"/>
                <a:cs typeface="Calibri" pitchFamily="34" charset="-120"/>
              </a:rPr>
              <a:t>LeakWatch is a machine-learning system that finds water leaks in a city's pipe network.</a:t>
            </a:r>
            <a:endParaRPr lang="en-US" sz="1650" dirty="0"/>
          </a:p>
        </p:txBody>
      </p:sp>
      <p:sp>
        <p:nvSpPr>
          <p:cNvPr id="9" name="Shape 7"/>
          <p:cNvSpPr/>
          <p:nvPr/>
        </p:nvSpPr>
        <p:spPr>
          <a:xfrm>
            <a:off x="685800" y="2560320"/>
            <a:ext cx="201168" cy="201168"/>
          </a:xfrm>
          <a:prstGeom prst="rect">
            <a:avLst/>
          </a:prstGeom>
          <a:solidFill>
            <a:srgbClr val="0E7C86"/>
          </a:solidFill>
          <a:ln/>
        </p:spPr>
      </p:sp>
      <p:sp>
        <p:nvSpPr>
          <p:cNvPr id="10" name="Text 8"/>
          <p:cNvSpPr/>
          <p:nvPr/>
        </p:nvSpPr>
        <p:spPr>
          <a:xfrm>
            <a:off x="1097280" y="2468880"/>
            <a:ext cx="10332720" cy="822960"/>
          </a:xfrm>
          <a:prstGeom prst="rect">
            <a:avLst/>
          </a:prstGeom>
          <a:noFill/>
          <a:ln/>
        </p:spPr>
        <p:txBody>
          <a:bodyPr wrap="square" rtlCol="0" anchor="t"/>
          <a:lstStyle/>
          <a:p>
            <a:pPr marL="0" indent="0">
              <a:buNone/>
            </a:pPr>
            <a:r>
              <a:rPr lang="en-US" sz="1650" dirty="0">
                <a:solidFill>
                  <a:srgbClr val="2C3E45"/>
                </a:solidFill>
                <a:latin typeface="Calibri" pitchFamily="34" charset="0"/>
                <a:ea typeface="Calibri" pitchFamily="34" charset="-122"/>
                <a:cs typeface="Calibri" pitchFamily="34" charset="-120"/>
              </a:rPr>
              <a:t>It works from water-pressure sensors: when a pipe leaks, water escapes and the pressure nearby drops - that drop is the clue the system looks for.</a:t>
            </a:r>
            <a:endParaRPr lang="en-US" sz="1650" dirty="0"/>
          </a:p>
        </p:txBody>
      </p:sp>
      <p:sp>
        <p:nvSpPr>
          <p:cNvPr id="11" name="Shape 9"/>
          <p:cNvSpPr/>
          <p:nvPr/>
        </p:nvSpPr>
        <p:spPr>
          <a:xfrm>
            <a:off x="685800" y="3566160"/>
            <a:ext cx="201168" cy="201168"/>
          </a:xfrm>
          <a:prstGeom prst="rect">
            <a:avLst/>
          </a:prstGeom>
          <a:solidFill>
            <a:srgbClr val="0E7C86"/>
          </a:solidFill>
          <a:ln/>
        </p:spPr>
      </p:sp>
      <p:sp>
        <p:nvSpPr>
          <p:cNvPr id="12" name="Text 10"/>
          <p:cNvSpPr/>
          <p:nvPr/>
        </p:nvSpPr>
        <p:spPr>
          <a:xfrm>
            <a:off x="1097280" y="3474720"/>
            <a:ext cx="10332720" cy="822960"/>
          </a:xfrm>
          <a:prstGeom prst="rect">
            <a:avLst/>
          </a:prstGeom>
          <a:noFill/>
          <a:ln/>
        </p:spPr>
        <p:txBody>
          <a:bodyPr wrap="square" rtlCol="0" anchor="t"/>
          <a:lstStyle/>
          <a:p>
            <a:pPr marL="0" indent="0">
              <a:buNone/>
            </a:pPr>
            <a:r>
              <a:rPr lang="en-US" sz="1650" dirty="0">
                <a:solidFill>
                  <a:srgbClr val="2C3E45"/>
                </a:solidFill>
                <a:latin typeface="Calibri" pitchFamily="34" charset="0"/>
                <a:ea typeface="Calibri" pitchFamily="34" charset="-122"/>
                <a:cs typeface="Calibri" pitchFamily="34" charset="-120"/>
              </a:rPr>
              <a:t>From those pressure readings it does three things: find out IF there is a leak, WHERE (which area) it is, and WHO should be sent to fix it.</a:t>
            </a:r>
            <a:endParaRPr lang="en-US" sz="1650" dirty="0"/>
          </a:p>
        </p:txBody>
      </p:sp>
      <p:sp>
        <p:nvSpPr>
          <p:cNvPr id="13" name="Shape 11"/>
          <p:cNvSpPr/>
          <p:nvPr/>
        </p:nvSpPr>
        <p:spPr>
          <a:xfrm>
            <a:off x="685800" y="4572000"/>
            <a:ext cx="201168" cy="201168"/>
          </a:xfrm>
          <a:prstGeom prst="rect">
            <a:avLst/>
          </a:prstGeom>
          <a:solidFill>
            <a:srgbClr val="0E7C86"/>
          </a:solidFill>
          <a:ln/>
        </p:spPr>
      </p:sp>
      <p:sp>
        <p:nvSpPr>
          <p:cNvPr id="14" name="Text 12"/>
          <p:cNvSpPr/>
          <p:nvPr/>
        </p:nvSpPr>
        <p:spPr>
          <a:xfrm>
            <a:off x="1097280" y="4480560"/>
            <a:ext cx="10332720" cy="822960"/>
          </a:xfrm>
          <a:prstGeom prst="rect">
            <a:avLst/>
          </a:prstGeom>
          <a:noFill/>
          <a:ln/>
        </p:spPr>
        <p:txBody>
          <a:bodyPr wrap="square" rtlCol="0" anchor="t"/>
          <a:lstStyle/>
          <a:p>
            <a:pPr marL="0" indent="0">
              <a:buNone/>
            </a:pPr>
            <a:r>
              <a:rPr lang="en-US" sz="1650" dirty="0">
                <a:solidFill>
                  <a:srgbClr val="2C3E45"/>
                </a:solidFill>
                <a:latin typeface="Calibri" pitchFamily="34" charset="0"/>
                <a:ea typeface="Calibri" pitchFamily="34" charset="-122"/>
                <a:cs typeface="Calibri" pitchFamily="34" charset="-120"/>
              </a:rPr>
              <a:t>The aim is to catch leaks early and automatically, instead of waiting for water to surface on the street.</a:t>
            </a:r>
            <a:endParaRPr lang="en-US" sz="1650" dirty="0"/>
          </a:p>
        </p:txBody>
      </p:sp>
      <p:sp>
        <p:nvSpPr>
          <p:cNvPr id="15" name="Shape 13"/>
          <p:cNvSpPr/>
          <p:nvPr/>
        </p:nvSpPr>
        <p:spPr>
          <a:xfrm>
            <a:off x="685800" y="5715000"/>
            <a:ext cx="10789920" cy="640080"/>
          </a:xfrm>
          <a:prstGeom prst="roundRect">
            <a:avLst>
              <a:gd name="adj" fmla="val 11429"/>
            </a:avLst>
          </a:prstGeom>
          <a:solidFill>
            <a:srgbClr val="DCEEF1"/>
          </a:solidFill>
          <a:ln/>
        </p:spPr>
      </p:sp>
      <p:sp>
        <p:nvSpPr>
          <p:cNvPr id="16" name="Text 14"/>
          <p:cNvSpPr/>
          <p:nvPr/>
        </p:nvSpPr>
        <p:spPr>
          <a:xfrm>
            <a:off x="868680" y="5715000"/>
            <a:ext cx="10424160" cy="640080"/>
          </a:xfrm>
          <a:prstGeom prst="rect">
            <a:avLst/>
          </a:prstGeom>
          <a:noFill/>
          <a:ln/>
        </p:spPr>
        <p:txBody>
          <a:bodyPr wrap="square"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In one line:  sensor readings go in  -&gt;  "there is a leak, it is near here, send this crew" comes out.</a:t>
            </a:r>
            <a:endParaRPr lang="en-US" sz="1400" dirty="0"/>
          </a:p>
        </p:txBody>
      </p:sp>
      <p:sp>
        <p:nvSpPr>
          <p:cNvPr id="17" name="Text 15"/>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8" name="Text 16"/>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INTRODUCTION  -  2 OF 3</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Why this project matters</a:t>
            </a:r>
            <a:endParaRPr lang="en-US" sz="2500" dirty="0"/>
          </a:p>
        </p:txBody>
      </p:sp>
      <p:sp>
        <p:nvSpPr>
          <p:cNvPr id="7" name="Shape 5"/>
          <p:cNvSpPr/>
          <p:nvPr/>
        </p:nvSpPr>
        <p:spPr>
          <a:xfrm>
            <a:off x="685800" y="1554480"/>
            <a:ext cx="201168" cy="201168"/>
          </a:xfrm>
          <a:prstGeom prst="rect">
            <a:avLst/>
          </a:prstGeom>
          <a:solidFill>
            <a:srgbClr val="0E7C86"/>
          </a:solidFill>
          <a:ln/>
        </p:spPr>
      </p:sp>
      <p:sp>
        <p:nvSpPr>
          <p:cNvPr id="8" name="Text 6"/>
          <p:cNvSpPr/>
          <p:nvPr/>
        </p:nvSpPr>
        <p:spPr>
          <a:xfrm>
            <a:off x="1097280" y="1463040"/>
            <a:ext cx="10332720" cy="822960"/>
          </a:xfrm>
          <a:prstGeom prst="rect">
            <a:avLst/>
          </a:prstGeom>
          <a:noFill/>
          <a:ln/>
        </p:spPr>
        <p:txBody>
          <a:bodyPr wrap="square" rtlCol="0" anchor="t"/>
          <a:lstStyle/>
          <a:p>
            <a:pPr marL="0" indent="0">
              <a:buNone/>
            </a:pPr>
            <a:r>
              <a:rPr lang="en-US" sz="1550" dirty="0">
                <a:solidFill>
                  <a:srgbClr val="2C3E45"/>
                </a:solidFill>
                <a:latin typeface="Calibri" pitchFamily="34" charset="0"/>
                <a:ea typeface="Calibri" pitchFamily="34" charset="-122"/>
                <a:cs typeface="Calibri" pitchFamily="34" charset="-120"/>
              </a:rPr>
              <a:t>Water utilities lose an estimated 30-50% of their clean, treated water to leaks in underground pipes.</a:t>
            </a:r>
            <a:endParaRPr lang="en-US" sz="1550" dirty="0"/>
          </a:p>
        </p:txBody>
      </p:sp>
      <p:sp>
        <p:nvSpPr>
          <p:cNvPr id="9" name="Shape 7"/>
          <p:cNvSpPr/>
          <p:nvPr/>
        </p:nvSpPr>
        <p:spPr>
          <a:xfrm>
            <a:off x="685800" y="2423160"/>
            <a:ext cx="201168" cy="201168"/>
          </a:xfrm>
          <a:prstGeom prst="rect">
            <a:avLst/>
          </a:prstGeom>
          <a:solidFill>
            <a:srgbClr val="0E7C86"/>
          </a:solidFill>
          <a:ln/>
        </p:spPr>
      </p:sp>
      <p:sp>
        <p:nvSpPr>
          <p:cNvPr id="10" name="Text 8"/>
          <p:cNvSpPr/>
          <p:nvPr/>
        </p:nvSpPr>
        <p:spPr>
          <a:xfrm>
            <a:off x="1097280" y="2331720"/>
            <a:ext cx="10332720" cy="822960"/>
          </a:xfrm>
          <a:prstGeom prst="rect">
            <a:avLst/>
          </a:prstGeom>
          <a:noFill/>
          <a:ln/>
        </p:spPr>
        <p:txBody>
          <a:bodyPr wrap="square" rtlCol="0" anchor="t"/>
          <a:lstStyle/>
          <a:p>
            <a:pPr marL="0" indent="0">
              <a:buNone/>
            </a:pPr>
            <a:r>
              <a:rPr lang="en-US" sz="1550" dirty="0">
                <a:solidFill>
                  <a:srgbClr val="2C3E45"/>
                </a:solidFill>
                <a:latin typeface="Calibri" pitchFamily="34" charset="0"/>
                <a:ea typeface="Calibri" pitchFamily="34" charset="-122"/>
                <a:cs typeface="Calibri" pitchFamily="34" charset="-120"/>
              </a:rPr>
              <a:t>These leaks are invisible - no one sees them until water finally reaches the surface, often weeks or months later.</a:t>
            </a:r>
            <a:endParaRPr lang="en-US" sz="1550" dirty="0"/>
          </a:p>
        </p:txBody>
      </p:sp>
      <p:sp>
        <p:nvSpPr>
          <p:cNvPr id="11" name="Shape 9"/>
          <p:cNvSpPr/>
          <p:nvPr/>
        </p:nvSpPr>
        <p:spPr>
          <a:xfrm>
            <a:off x="685800" y="3291840"/>
            <a:ext cx="201168" cy="201168"/>
          </a:xfrm>
          <a:prstGeom prst="rect">
            <a:avLst/>
          </a:prstGeom>
          <a:solidFill>
            <a:srgbClr val="0E7C86"/>
          </a:solidFill>
          <a:ln/>
        </p:spPr>
      </p:sp>
      <p:sp>
        <p:nvSpPr>
          <p:cNvPr id="12" name="Text 10"/>
          <p:cNvSpPr/>
          <p:nvPr/>
        </p:nvSpPr>
        <p:spPr>
          <a:xfrm>
            <a:off x="1097280" y="3200400"/>
            <a:ext cx="10332720" cy="822960"/>
          </a:xfrm>
          <a:prstGeom prst="rect">
            <a:avLst/>
          </a:prstGeom>
          <a:noFill/>
          <a:ln/>
        </p:spPr>
        <p:txBody>
          <a:bodyPr wrap="square" rtlCol="0" anchor="t"/>
          <a:lstStyle/>
          <a:p>
            <a:pPr marL="0" indent="0">
              <a:buNone/>
            </a:pPr>
            <a:r>
              <a:rPr lang="en-US" sz="1550" dirty="0">
                <a:solidFill>
                  <a:srgbClr val="2C3E45"/>
                </a:solidFill>
                <a:latin typeface="Calibri" pitchFamily="34" charset="0"/>
                <a:ea typeface="Calibri" pitchFamily="34" charset="-122"/>
                <a:cs typeface="Calibri" pitchFamily="34" charset="-120"/>
              </a:rPr>
              <a:t>That wasted water also wastes the energy and money used to clean and pump it.</a:t>
            </a:r>
            <a:endParaRPr lang="en-US" sz="1550" dirty="0"/>
          </a:p>
        </p:txBody>
      </p:sp>
      <p:sp>
        <p:nvSpPr>
          <p:cNvPr id="13" name="Shape 11"/>
          <p:cNvSpPr/>
          <p:nvPr/>
        </p:nvSpPr>
        <p:spPr>
          <a:xfrm>
            <a:off x="685800" y="4160520"/>
            <a:ext cx="201168" cy="201168"/>
          </a:xfrm>
          <a:prstGeom prst="rect">
            <a:avLst/>
          </a:prstGeom>
          <a:solidFill>
            <a:srgbClr val="0E7C86"/>
          </a:solidFill>
          <a:ln/>
        </p:spPr>
      </p:sp>
      <p:sp>
        <p:nvSpPr>
          <p:cNvPr id="14" name="Text 12"/>
          <p:cNvSpPr/>
          <p:nvPr/>
        </p:nvSpPr>
        <p:spPr>
          <a:xfrm>
            <a:off x="1097280" y="4069080"/>
            <a:ext cx="10332720" cy="822960"/>
          </a:xfrm>
          <a:prstGeom prst="rect">
            <a:avLst/>
          </a:prstGeom>
          <a:noFill/>
          <a:ln/>
        </p:spPr>
        <p:txBody>
          <a:bodyPr wrap="square" rtlCol="0" anchor="t"/>
          <a:lstStyle/>
          <a:p>
            <a:pPr marL="0" indent="0">
              <a:buNone/>
            </a:pPr>
            <a:r>
              <a:rPr lang="en-US" sz="1550" dirty="0">
                <a:solidFill>
                  <a:srgbClr val="2C3E45"/>
                </a:solidFill>
                <a:latin typeface="Calibri" pitchFamily="34" charset="0"/>
                <a:ea typeface="Calibri" pitchFamily="34" charset="-122"/>
                <a:cs typeface="Calibri" pitchFamily="34" charset="-120"/>
              </a:rPr>
              <a:t>Traditional leak-finding is slow and manual. Machine learning can flag a leak from sensor data as soon as the pressure pattern changes.</a:t>
            </a:r>
            <a:endParaRPr lang="en-US" sz="1550" dirty="0"/>
          </a:p>
        </p:txBody>
      </p:sp>
      <p:sp>
        <p:nvSpPr>
          <p:cNvPr id="15" name="Shape 13"/>
          <p:cNvSpPr/>
          <p:nvPr/>
        </p:nvSpPr>
        <p:spPr>
          <a:xfrm>
            <a:off x="685800" y="5029200"/>
            <a:ext cx="201168" cy="201168"/>
          </a:xfrm>
          <a:prstGeom prst="rect">
            <a:avLst/>
          </a:prstGeom>
          <a:solidFill>
            <a:srgbClr val="0E7C86"/>
          </a:solidFill>
          <a:ln/>
        </p:spPr>
      </p:sp>
      <p:sp>
        <p:nvSpPr>
          <p:cNvPr id="16" name="Text 14"/>
          <p:cNvSpPr/>
          <p:nvPr/>
        </p:nvSpPr>
        <p:spPr>
          <a:xfrm>
            <a:off x="1097280" y="4937760"/>
            <a:ext cx="10332720" cy="822960"/>
          </a:xfrm>
          <a:prstGeom prst="rect">
            <a:avLst/>
          </a:prstGeom>
          <a:noFill/>
          <a:ln/>
        </p:spPr>
        <p:txBody>
          <a:bodyPr wrap="square" rtlCol="0" anchor="t"/>
          <a:lstStyle/>
          <a:p>
            <a:pPr marL="0" indent="0">
              <a:buNone/>
            </a:pPr>
            <a:r>
              <a:rPr lang="en-US" sz="1550" dirty="0">
                <a:solidFill>
                  <a:srgbClr val="2C3E45"/>
                </a:solidFill>
                <a:latin typeface="Calibri" pitchFamily="34" charset="0"/>
                <a:ea typeface="Calibri" pitchFamily="34" charset="-122"/>
                <a:cs typeface="Calibri" pitchFamily="34" charset="-120"/>
              </a:rPr>
              <a:t>So the problem I am solving: detect and locate leaks earlier, using only a few sensors, so repairs happen faster.</a:t>
            </a:r>
            <a:endParaRPr lang="en-US" sz="1550" dirty="0"/>
          </a:p>
        </p:txBody>
      </p:sp>
      <p:sp>
        <p:nvSpPr>
          <p:cNvPr id="17" name="Text 15"/>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8" name="Text 16"/>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INTRODUCTION  -  3 OF 3</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How the system works: three steps</a:t>
            </a:r>
            <a:endParaRPr lang="en-US" sz="2500" dirty="0"/>
          </a:p>
        </p:txBody>
      </p:sp>
      <p:pic>
        <p:nvPicPr>
          <p:cNvPr id="7" name="Image 0" descr="/home/claude/img/overview.png"/>
          <p:cNvPicPr>
            <a:picLocks noChangeAspect="1"/>
          </p:cNvPicPr>
          <p:nvPr/>
        </p:nvPicPr>
        <p:blipFill>
          <a:blip r:embed="rId3"/>
          <a:srcRect/>
          <a:stretch/>
        </p:blipFill>
        <p:spPr>
          <a:xfrm>
            <a:off x="1005840" y="1325880"/>
            <a:ext cx="10149840" cy="2606040"/>
          </a:xfrm>
          <a:prstGeom prst="rect">
            <a:avLst/>
          </a:prstGeom>
        </p:spPr>
      </p:pic>
      <p:sp>
        <p:nvSpPr>
          <p:cNvPr id="8" name="Shape 5"/>
          <p:cNvSpPr/>
          <p:nvPr/>
        </p:nvSpPr>
        <p:spPr>
          <a:xfrm>
            <a:off x="685800" y="4206240"/>
            <a:ext cx="201168" cy="201168"/>
          </a:xfrm>
          <a:prstGeom prst="rect">
            <a:avLst/>
          </a:prstGeom>
          <a:solidFill>
            <a:srgbClr val="0E7C86"/>
          </a:solidFill>
          <a:ln/>
        </p:spPr>
      </p:sp>
      <p:sp>
        <p:nvSpPr>
          <p:cNvPr id="9" name="Text 6"/>
          <p:cNvSpPr/>
          <p:nvPr/>
        </p:nvSpPr>
        <p:spPr>
          <a:xfrm>
            <a:off x="1097280" y="4114800"/>
            <a:ext cx="10332720" cy="822960"/>
          </a:xfrm>
          <a:prstGeom prst="rect">
            <a:avLst/>
          </a:prstGeom>
          <a:noFill/>
          <a:ln/>
        </p:spPr>
        <p:txBody>
          <a:bodyPr wrap="square" rtlCol="0" anchor="t"/>
          <a:lstStyle/>
          <a:p>
            <a:pPr marL="0" indent="0">
              <a:buNone/>
            </a:pPr>
            <a:r>
              <a:rPr lang="en-US" sz="1400" dirty="0">
                <a:solidFill>
                  <a:srgbClr val="2C3E45"/>
                </a:solidFill>
                <a:latin typeface="Calibri" pitchFamily="34" charset="0"/>
                <a:ea typeface="Calibri" pitchFamily="34" charset="-122"/>
                <a:cs typeface="Calibri" pitchFamily="34" charset="-120"/>
              </a:rPr>
              <a:t>1. DETECT - a machine-learning model reads the sensor pressure drops and decides: leak or no leak.</a:t>
            </a:r>
            <a:endParaRPr lang="en-US" sz="1400" dirty="0"/>
          </a:p>
        </p:txBody>
      </p:sp>
      <p:sp>
        <p:nvSpPr>
          <p:cNvPr id="10" name="Shape 7"/>
          <p:cNvSpPr/>
          <p:nvPr/>
        </p:nvSpPr>
        <p:spPr>
          <a:xfrm>
            <a:off x="685800" y="4773168"/>
            <a:ext cx="201168" cy="201168"/>
          </a:xfrm>
          <a:prstGeom prst="rect">
            <a:avLst/>
          </a:prstGeom>
          <a:solidFill>
            <a:srgbClr val="0E7C86"/>
          </a:solidFill>
          <a:ln/>
        </p:spPr>
      </p:sp>
      <p:sp>
        <p:nvSpPr>
          <p:cNvPr id="11" name="Text 8"/>
          <p:cNvSpPr/>
          <p:nvPr/>
        </p:nvSpPr>
        <p:spPr>
          <a:xfrm>
            <a:off x="1097280" y="4681728"/>
            <a:ext cx="10332720" cy="822960"/>
          </a:xfrm>
          <a:prstGeom prst="rect">
            <a:avLst/>
          </a:prstGeom>
          <a:noFill/>
          <a:ln/>
        </p:spPr>
        <p:txBody>
          <a:bodyPr wrap="square" rtlCol="0" anchor="t"/>
          <a:lstStyle/>
          <a:p>
            <a:pPr marL="0" indent="0">
              <a:buNone/>
            </a:pPr>
            <a:r>
              <a:rPr lang="en-US" sz="1400" dirty="0">
                <a:solidFill>
                  <a:srgbClr val="2C3E45"/>
                </a:solidFill>
                <a:latin typeface="Calibri" pitchFamily="34" charset="0"/>
                <a:ea typeface="Calibri" pitchFamily="34" charset="-122"/>
                <a:cs typeface="Calibri" pitchFamily="34" charset="-120"/>
              </a:rPr>
              <a:t>2. LOCALIZE - a model works out which AREA of the network the leak is in.</a:t>
            </a:r>
            <a:endParaRPr lang="en-US" sz="1400" dirty="0"/>
          </a:p>
        </p:txBody>
      </p:sp>
      <p:sp>
        <p:nvSpPr>
          <p:cNvPr id="12" name="Shape 9"/>
          <p:cNvSpPr/>
          <p:nvPr/>
        </p:nvSpPr>
        <p:spPr>
          <a:xfrm>
            <a:off x="685800" y="5340096"/>
            <a:ext cx="201168" cy="201168"/>
          </a:xfrm>
          <a:prstGeom prst="rect">
            <a:avLst/>
          </a:prstGeom>
          <a:solidFill>
            <a:srgbClr val="0E7C86"/>
          </a:solidFill>
          <a:ln/>
        </p:spPr>
      </p:sp>
      <p:sp>
        <p:nvSpPr>
          <p:cNvPr id="13" name="Text 10"/>
          <p:cNvSpPr/>
          <p:nvPr/>
        </p:nvSpPr>
        <p:spPr>
          <a:xfrm>
            <a:off x="1097280" y="5248656"/>
            <a:ext cx="10332720" cy="822960"/>
          </a:xfrm>
          <a:prstGeom prst="rect">
            <a:avLst/>
          </a:prstGeom>
          <a:noFill/>
          <a:ln/>
        </p:spPr>
        <p:txBody>
          <a:bodyPr wrap="square" rtlCol="0" anchor="t"/>
          <a:lstStyle/>
          <a:p>
            <a:pPr marL="0" indent="0">
              <a:buNone/>
            </a:pPr>
            <a:r>
              <a:rPr lang="en-US" sz="1400" dirty="0">
                <a:solidFill>
                  <a:srgbClr val="2C3E45"/>
                </a:solidFill>
                <a:latin typeface="Calibri" pitchFamily="34" charset="0"/>
                <a:ea typeface="Calibri" pitchFamily="34" charset="-122"/>
                <a:cs typeface="Calibri" pitchFamily="34" charset="-120"/>
              </a:rPr>
              <a:t>3. RESPOND - the system finds the nearest repair crew and the shortest route (a calculation, not ML).</a:t>
            </a:r>
            <a:endParaRPr lang="en-US" sz="1400" dirty="0"/>
          </a:p>
        </p:txBody>
      </p:sp>
      <p:sp>
        <p:nvSpPr>
          <p:cNvPr id="14" name="Text 11"/>
          <p:cNvSpPr/>
          <p:nvPr/>
        </p:nvSpPr>
        <p:spPr>
          <a:xfrm>
            <a:off x="685800" y="6080760"/>
            <a:ext cx="10789920" cy="365760"/>
          </a:xfrm>
          <a:prstGeom prst="rect">
            <a:avLst/>
          </a:prstGeom>
          <a:noFill/>
          <a:ln/>
        </p:spPr>
        <p:txBody>
          <a:bodyPr wrap="square" rtlCol="0" anchor="ctr"/>
          <a:lstStyle/>
          <a:p>
            <a:pPr marL="0" indent="0">
              <a:buNone/>
            </a:pPr>
            <a:r>
              <a:rPr lang="en-US" sz="1250" b="1" dirty="0">
                <a:solidFill>
                  <a:srgbClr val="0B2A3B"/>
                </a:solidFill>
                <a:latin typeface="Calibri" pitchFamily="34" charset="0"/>
                <a:ea typeface="Calibri" pitchFamily="34" charset="-122"/>
                <a:cs typeface="Calibri" pitchFamily="34" charset="-120"/>
              </a:rPr>
              <a:t>This midterm covers the DETECTION step and a model comparison, which are built and tested. Localization and response are next.</a:t>
            </a:r>
            <a:endParaRPr lang="en-US" sz="1250" dirty="0"/>
          </a:p>
        </p:txBody>
      </p:sp>
      <p:sp>
        <p:nvSpPr>
          <p:cNvPr id="15" name="Text 12"/>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6" name="Text 13"/>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SETUP</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Tools I use</a:t>
            </a:r>
            <a:endParaRPr lang="en-US" sz="2500" dirty="0"/>
          </a:p>
        </p:txBody>
      </p:sp>
      <p:sp>
        <p:nvSpPr>
          <p:cNvPr id="7" name="Shape 5"/>
          <p:cNvSpPr/>
          <p:nvPr/>
        </p:nvSpPr>
        <p:spPr>
          <a:xfrm>
            <a:off x="685800" y="1417320"/>
            <a:ext cx="10789920" cy="731520"/>
          </a:xfrm>
          <a:prstGeom prst="roundRect">
            <a:avLst>
              <a:gd name="adj" fmla="val 6250"/>
            </a:avLst>
          </a:prstGeom>
          <a:solidFill>
            <a:srgbClr val="F4F9FA"/>
          </a:solidFill>
          <a:ln w="12700">
            <a:solidFill>
              <a:srgbClr val="DCEEF1"/>
            </a:solidFill>
            <a:prstDash val="solid"/>
          </a:ln>
        </p:spPr>
      </p:sp>
      <p:sp>
        <p:nvSpPr>
          <p:cNvPr id="8" name="Text 6"/>
          <p:cNvSpPr/>
          <p:nvPr/>
        </p:nvSpPr>
        <p:spPr>
          <a:xfrm>
            <a:off x="868680" y="1417320"/>
            <a:ext cx="3017520" cy="731520"/>
          </a:xfrm>
          <a:prstGeom prst="rect">
            <a:avLst/>
          </a:prstGeom>
          <a:noFill/>
          <a:ln/>
        </p:spPr>
        <p:txBody>
          <a:bodyPr wrap="square" rtlCol="0" anchor="ctr"/>
          <a:lstStyle/>
          <a:p>
            <a:pPr marL="0" indent="0">
              <a:buNone/>
            </a:pPr>
            <a:r>
              <a:rPr lang="en-US" sz="1500" b="1" dirty="0">
                <a:solidFill>
                  <a:srgbClr val="0B2A3B"/>
                </a:solidFill>
                <a:latin typeface="Georgia" pitchFamily="34" charset="0"/>
                <a:ea typeface="Georgia" pitchFamily="34" charset="-122"/>
                <a:cs typeface="Georgia" pitchFamily="34" charset="-120"/>
              </a:rPr>
              <a:t>EPANET + WNTR</a:t>
            </a:r>
            <a:endParaRPr lang="en-US" sz="1500" dirty="0"/>
          </a:p>
        </p:txBody>
      </p:sp>
      <p:sp>
        <p:nvSpPr>
          <p:cNvPr id="9" name="Text 7"/>
          <p:cNvSpPr/>
          <p:nvPr/>
        </p:nvSpPr>
        <p:spPr>
          <a:xfrm>
            <a:off x="4023360" y="1417320"/>
            <a:ext cx="7315200" cy="731520"/>
          </a:xfrm>
          <a:prstGeom prst="rect">
            <a:avLst/>
          </a:prstGeom>
          <a:noFill/>
          <a:ln/>
        </p:spPr>
        <p:txBody>
          <a:bodyPr wrap="square" rtlCol="0" anchor="ctr"/>
          <a:lstStyle/>
          <a:p>
            <a:pPr marL="0" indent="0">
              <a:buNone/>
            </a:pPr>
            <a:r>
              <a:rPr lang="en-US" sz="1300" dirty="0">
                <a:solidFill>
                  <a:srgbClr val="2C3E45"/>
                </a:solidFill>
                <a:latin typeface="Calibri" pitchFamily="34" charset="0"/>
                <a:ea typeface="Calibri" pitchFamily="34" charset="-122"/>
                <a:cs typeface="Calibri" pitchFamily="34" charset="-120"/>
              </a:rPr>
              <a:t>the water simulator (EPANET) and its Python interface (WNTR) - they model water physics</a:t>
            </a:r>
            <a:endParaRPr lang="en-US" sz="1300" dirty="0"/>
          </a:p>
        </p:txBody>
      </p:sp>
      <p:sp>
        <p:nvSpPr>
          <p:cNvPr id="10" name="Shape 8"/>
          <p:cNvSpPr/>
          <p:nvPr/>
        </p:nvSpPr>
        <p:spPr>
          <a:xfrm>
            <a:off x="685800" y="2240280"/>
            <a:ext cx="10789920" cy="731520"/>
          </a:xfrm>
          <a:prstGeom prst="roundRect">
            <a:avLst>
              <a:gd name="adj" fmla="val 6250"/>
            </a:avLst>
          </a:prstGeom>
          <a:solidFill>
            <a:srgbClr val="F4F9FA"/>
          </a:solidFill>
          <a:ln w="12700">
            <a:solidFill>
              <a:srgbClr val="DCEEF1"/>
            </a:solidFill>
            <a:prstDash val="solid"/>
          </a:ln>
        </p:spPr>
      </p:sp>
      <p:sp>
        <p:nvSpPr>
          <p:cNvPr id="11" name="Text 9"/>
          <p:cNvSpPr/>
          <p:nvPr/>
        </p:nvSpPr>
        <p:spPr>
          <a:xfrm>
            <a:off x="868680" y="2240280"/>
            <a:ext cx="3017520" cy="731520"/>
          </a:xfrm>
          <a:prstGeom prst="rect">
            <a:avLst/>
          </a:prstGeom>
          <a:noFill/>
          <a:ln/>
        </p:spPr>
        <p:txBody>
          <a:bodyPr wrap="square" rtlCol="0" anchor="ctr"/>
          <a:lstStyle/>
          <a:p>
            <a:pPr marL="0" indent="0">
              <a:buNone/>
            </a:pPr>
            <a:r>
              <a:rPr lang="en-US" sz="1500" b="1" dirty="0">
                <a:solidFill>
                  <a:srgbClr val="0B2A3B"/>
                </a:solidFill>
                <a:latin typeface="Georgia" pitchFamily="34" charset="0"/>
                <a:ea typeface="Georgia" pitchFamily="34" charset="-122"/>
                <a:cs typeface="Georgia" pitchFamily="34" charset="-120"/>
              </a:rPr>
              <a:t>Net3 network</a:t>
            </a:r>
            <a:endParaRPr lang="en-US" sz="1500" dirty="0"/>
          </a:p>
        </p:txBody>
      </p:sp>
      <p:sp>
        <p:nvSpPr>
          <p:cNvPr id="12" name="Text 10"/>
          <p:cNvSpPr/>
          <p:nvPr/>
        </p:nvSpPr>
        <p:spPr>
          <a:xfrm>
            <a:off x="4023360" y="2240280"/>
            <a:ext cx="7315200" cy="731520"/>
          </a:xfrm>
          <a:prstGeom prst="rect">
            <a:avLst/>
          </a:prstGeom>
          <a:noFill/>
          <a:ln/>
        </p:spPr>
        <p:txBody>
          <a:bodyPr wrap="square" rtlCol="0" anchor="ctr"/>
          <a:lstStyle/>
          <a:p>
            <a:pPr marL="0" indent="0">
              <a:buNone/>
            </a:pPr>
            <a:r>
              <a:rPr lang="en-US" sz="1300" dirty="0">
                <a:solidFill>
                  <a:srgbClr val="2C3E45"/>
                </a:solidFill>
                <a:latin typeface="Calibri" pitchFamily="34" charset="0"/>
                <a:ea typeface="Calibri" pitchFamily="34" charset="-122"/>
                <a:cs typeface="Calibri" pitchFamily="34" charset="-120"/>
              </a:rPr>
              <a:t>the standard example water network (92 junctions, 117 pipes) from the US EPA</a:t>
            </a:r>
            <a:endParaRPr lang="en-US" sz="1300" dirty="0"/>
          </a:p>
        </p:txBody>
      </p:sp>
      <p:sp>
        <p:nvSpPr>
          <p:cNvPr id="13" name="Shape 11"/>
          <p:cNvSpPr/>
          <p:nvPr/>
        </p:nvSpPr>
        <p:spPr>
          <a:xfrm>
            <a:off x="685800" y="3063240"/>
            <a:ext cx="10789920" cy="731520"/>
          </a:xfrm>
          <a:prstGeom prst="roundRect">
            <a:avLst>
              <a:gd name="adj" fmla="val 6250"/>
            </a:avLst>
          </a:prstGeom>
          <a:solidFill>
            <a:srgbClr val="F4F9FA"/>
          </a:solidFill>
          <a:ln w="12700">
            <a:solidFill>
              <a:srgbClr val="DCEEF1"/>
            </a:solidFill>
            <a:prstDash val="solid"/>
          </a:ln>
        </p:spPr>
      </p:sp>
      <p:sp>
        <p:nvSpPr>
          <p:cNvPr id="14" name="Text 12"/>
          <p:cNvSpPr/>
          <p:nvPr/>
        </p:nvSpPr>
        <p:spPr>
          <a:xfrm>
            <a:off x="868680" y="3063240"/>
            <a:ext cx="3017520" cy="731520"/>
          </a:xfrm>
          <a:prstGeom prst="rect">
            <a:avLst/>
          </a:prstGeom>
          <a:noFill/>
          <a:ln/>
        </p:spPr>
        <p:txBody>
          <a:bodyPr wrap="square" rtlCol="0" anchor="ctr"/>
          <a:lstStyle/>
          <a:p>
            <a:pPr marL="0" indent="0">
              <a:buNone/>
            </a:pPr>
            <a:r>
              <a:rPr lang="en-US" sz="1500" b="1" dirty="0">
                <a:solidFill>
                  <a:srgbClr val="0B2A3B"/>
                </a:solidFill>
                <a:latin typeface="Georgia" pitchFamily="34" charset="0"/>
                <a:ea typeface="Georgia" pitchFamily="34" charset="-122"/>
                <a:cs typeface="Georgia" pitchFamily="34" charset="-120"/>
              </a:rPr>
              <a:t>scikit-learn</a:t>
            </a:r>
            <a:endParaRPr lang="en-US" sz="1500" dirty="0"/>
          </a:p>
        </p:txBody>
      </p:sp>
      <p:sp>
        <p:nvSpPr>
          <p:cNvPr id="15" name="Text 13"/>
          <p:cNvSpPr/>
          <p:nvPr/>
        </p:nvSpPr>
        <p:spPr>
          <a:xfrm>
            <a:off x="4023360" y="3063240"/>
            <a:ext cx="7315200" cy="731520"/>
          </a:xfrm>
          <a:prstGeom prst="rect">
            <a:avLst/>
          </a:prstGeom>
          <a:noFill/>
          <a:ln/>
        </p:spPr>
        <p:txBody>
          <a:bodyPr wrap="square" rtlCol="0" anchor="ctr"/>
          <a:lstStyle/>
          <a:p>
            <a:pPr marL="0" indent="0">
              <a:buNone/>
            </a:pPr>
            <a:r>
              <a:rPr lang="en-US" sz="1300" dirty="0">
                <a:solidFill>
                  <a:srgbClr val="2C3E45"/>
                </a:solidFill>
                <a:latin typeface="Calibri" pitchFamily="34" charset="0"/>
                <a:ea typeface="Calibri" pitchFamily="34" charset="-122"/>
                <a:cs typeface="Calibri" pitchFamily="34" charset="-120"/>
              </a:rPr>
              <a:t>the machine-learning library - provides my Random Forest and the other models</a:t>
            </a:r>
            <a:endParaRPr lang="en-US" sz="1300" dirty="0"/>
          </a:p>
        </p:txBody>
      </p:sp>
      <p:sp>
        <p:nvSpPr>
          <p:cNvPr id="16" name="Shape 14"/>
          <p:cNvSpPr/>
          <p:nvPr/>
        </p:nvSpPr>
        <p:spPr>
          <a:xfrm>
            <a:off x="685800" y="3886200"/>
            <a:ext cx="10789920" cy="731520"/>
          </a:xfrm>
          <a:prstGeom prst="roundRect">
            <a:avLst>
              <a:gd name="adj" fmla="val 6250"/>
            </a:avLst>
          </a:prstGeom>
          <a:solidFill>
            <a:srgbClr val="F4F9FA"/>
          </a:solidFill>
          <a:ln w="12700">
            <a:solidFill>
              <a:srgbClr val="DCEEF1"/>
            </a:solidFill>
            <a:prstDash val="solid"/>
          </a:ln>
        </p:spPr>
      </p:sp>
      <p:sp>
        <p:nvSpPr>
          <p:cNvPr id="17" name="Text 15"/>
          <p:cNvSpPr/>
          <p:nvPr/>
        </p:nvSpPr>
        <p:spPr>
          <a:xfrm>
            <a:off x="868680" y="3886200"/>
            <a:ext cx="3017520" cy="731520"/>
          </a:xfrm>
          <a:prstGeom prst="rect">
            <a:avLst/>
          </a:prstGeom>
          <a:noFill/>
          <a:ln/>
        </p:spPr>
        <p:txBody>
          <a:bodyPr wrap="square" rtlCol="0" anchor="ctr"/>
          <a:lstStyle/>
          <a:p>
            <a:pPr marL="0" indent="0">
              <a:buNone/>
            </a:pPr>
            <a:r>
              <a:rPr lang="en-US" sz="1500" b="1" dirty="0">
                <a:solidFill>
                  <a:srgbClr val="0B2A3B"/>
                </a:solidFill>
                <a:latin typeface="Georgia" pitchFamily="34" charset="0"/>
                <a:ea typeface="Georgia" pitchFamily="34" charset="-122"/>
                <a:cs typeface="Georgia" pitchFamily="34" charset="-120"/>
              </a:rPr>
              <a:t>pandas / numpy</a:t>
            </a:r>
            <a:endParaRPr lang="en-US" sz="1500" dirty="0"/>
          </a:p>
        </p:txBody>
      </p:sp>
      <p:sp>
        <p:nvSpPr>
          <p:cNvPr id="18" name="Text 16"/>
          <p:cNvSpPr/>
          <p:nvPr/>
        </p:nvSpPr>
        <p:spPr>
          <a:xfrm>
            <a:off x="4023360" y="3886200"/>
            <a:ext cx="7315200" cy="731520"/>
          </a:xfrm>
          <a:prstGeom prst="rect">
            <a:avLst/>
          </a:prstGeom>
          <a:noFill/>
          <a:ln/>
        </p:spPr>
        <p:txBody>
          <a:bodyPr wrap="square" rtlCol="0" anchor="ctr"/>
          <a:lstStyle/>
          <a:p>
            <a:pPr marL="0" indent="0">
              <a:buNone/>
            </a:pPr>
            <a:r>
              <a:rPr lang="en-US" sz="1300" dirty="0">
                <a:solidFill>
                  <a:srgbClr val="2C3E45"/>
                </a:solidFill>
                <a:latin typeface="Calibri" pitchFamily="34" charset="0"/>
                <a:ea typeface="Calibri" pitchFamily="34" charset="-122"/>
                <a:cs typeface="Calibri" pitchFamily="34" charset="-120"/>
              </a:rPr>
              <a:t>build the data table and add realistic noise</a:t>
            </a:r>
            <a:endParaRPr lang="en-US" sz="1300" dirty="0"/>
          </a:p>
        </p:txBody>
      </p:sp>
      <p:sp>
        <p:nvSpPr>
          <p:cNvPr id="19" name="Shape 17"/>
          <p:cNvSpPr/>
          <p:nvPr/>
        </p:nvSpPr>
        <p:spPr>
          <a:xfrm>
            <a:off x="685800" y="4709160"/>
            <a:ext cx="10789920" cy="731520"/>
          </a:xfrm>
          <a:prstGeom prst="roundRect">
            <a:avLst>
              <a:gd name="adj" fmla="val 6250"/>
            </a:avLst>
          </a:prstGeom>
          <a:solidFill>
            <a:srgbClr val="F4F9FA"/>
          </a:solidFill>
          <a:ln w="12700">
            <a:solidFill>
              <a:srgbClr val="DCEEF1"/>
            </a:solidFill>
            <a:prstDash val="solid"/>
          </a:ln>
        </p:spPr>
      </p:sp>
      <p:sp>
        <p:nvSpPr>
          <p:cNvPr id="20" name="Text 18"/>
          <p:cNvSpPr/>
          <p:nvPr/>
        </p:nvSpPr>
        <p:spPr>
          <a:xfrm>
            <a:off x="868680" y="4709160"/>
            <a:ext cx="3017520" cy="731520"/>
          </a:xfrm>
          <a:prstGeom prst="rect">
            <a:avLst/>
          </a:prstGeom>
          <a:noFill/>
          <a:ln/>
        </p:spPr>
        <p:txBody>
          <a:bodyPr wrap="square" rtlCol="0" anchor="ctr"/>
          <a:lstStyle/>
          <a:p>
            <a:pPr marL="0" indent="0">
              <a:buNone/>
            </a:pPr>
            <a:r>
              <a:rPr lang="en-US" sz="1500" b="1" dirty="0">
                <a:solidFill>
                  <a:srgbClr val="0B2A3B"/>
                </a:solidFill>
                <a:latin typeface="Georgia" pitchFamily="34" charset="0"/>
                <a:ea typeface="Georgia" pitchFamily="34" charset="-122"/>
                <a:cs typeface="Georgia" pitchFamily="34" charset="-120"/>
              </a:rPr>
              <a:t>matplotlib</a:t>
            </a:r>
            <a:endParaRPr lang="en-US" sz="1500" dirty="0"/>
          </a:p>
        </p:txBody>
      </p:sp>
      <p:sp>
        <p:nvSpPr>
          <p:cNvPr id="21" name="Text 19"/>
          <p:cNvSpPr/>
          <p:nvPr/>
        </p:nvSpPr>
        <p:spPr>
          <a:xfrm>
            <a:off x="4023360" y="4709160"/>
            <a:ext cx="7315200" cy="731520"/>
          </a:xfrm>
          <a:prstGeom prst="rect">
            <a:avLst/>
          </a:prstGeom>
          <a:noFill/>
          <a:ln/>
        </p:spPr>
        <p:txBody>
          <a:bodyPr wrap="square" rtlCol="0" anchor="ctr"/>
          <a:lstStyle/>
          <a:p>
            <a:pPr marL="0" indent="0">
              <a:buNone/>
            </a:pPr>
            <a:r>
              <a:rPr lang="en-US" sz="1300" dirty="0">
                <a:solidFill>
                  <a:srgbClr val="2C3E45"/>
                </a:solidFill>
                <a:latin typeface="Calibri" pitchFamily="34" charset="0"/>
                <a:ea typeface="Calibri" pitchFamily="34" charset="-122"/>
                <a:cs typeface="Calibri" pitchFamily="34" charset="-120"/>
              </a:rPr>
              <a:t>draws the charts and figures</a:t>
            </a:r>
            <a:endParaRPr lang="en-US" sz="1300" dirty="0"/>
          </a:p>
        </p:txBody>
      </p:sp>
      <p:sp>
        <p:nvSpPr>
          <p:cNvPr id="22" name="Shape 20"/>
          <p:cNvSpPr/>
          <p:nvPr/>
        </p:nvSpPr>
        <p:spPr>
          <a:xfrm>
            <a:off x="685800" y="5532120"/>
            <a:ext cx="10789920" cy="731520"/>
          </a:xfrm>
          <a:prstGeom prst="roundRect">
            <a:avLst>
              <a:gd name="adj" fmla="val 6250"/>
            </a:avLst>
          </a:prstGeom>
          <a:solidFill>
            <a:srgbClr val="F4F9FA"/>
          </a:solidFill>
          <a:ln w="12700">
            <a:solidFill>
              <a:srgbClr val="DCEEF1"/>
            </a:solidFill>
            <a:prstDash val="solid"/>
          </a:ln>
        </p:spPr>
      </p:sp>
      <p:sp>
        <p:nvSpPr>
          <p:cNvPr id="23" name="Text 21"/>
          <p:cNvSpPr/>
          <p:nvPr/>
        </p:nvSpPr>
        <p:spPr>
          <a:xfrm>
            <a:off x="868680" y="5532120"/>
            <a:ext cx="3017520" cy="731520"/>
          </a:xfrm>
          <a:prstGeom prst="rect">
            <a:avLst/>
          </a:prstGeom>
          <a:noFill/>
          <a:ln/>
        </p:spPr>
        <p:txBody>
          <a:bodyPr wrap="square" rtlCol="0" anchor="ctr"/>
          <a:lstStyle/>
          <a:p>
            <a:pPr marL="0" indent="0">
              <a:buNone/>
            </a:pPr>
            <a:r>
              <a:rPr lang="en-US" sz="1500" b="1" dirty="0">
                <a:solidFill>
                  <a:srgbClr val="0B2A3B"/>
                </a:solidFill>
                <a:latin typeface="Georgia" pitchFamily="34" charset="0"/>
                <a:ea typeface="Georgia" pitchFamily="34" charset="-122"/>
                <a:cs typeface="Georgia" pitchFamily="34" charset="-120"/>
              </a:rPr>
              <a:t>Colab + GitHub</a:t>
            </a:r>
            <a:endParaRPr lang="en-US" sz="1500" dirty="0"/>
          </a:p>
        </p:txBody>
      </p:sp>
      <p:sp>
        <p:nvSpPr>
          <p:cNvPr id="24" name="Text 22"/>
          <p:cNvSpPr/>
          <p:nvPr/>
        </p:nvSpPr>
        <p:spPr>
          <a:xfrm>
            <a:off x="4023360" y="5532120"/>
            <a:ext cx="7315200" cy="731520"/>
          </a:xfrm>
          <a:prstGeom prst="rect">
            <a:avLst/>
          </a:prstGeom>
          <a:noFill/>
          <a:ln/>
        </p:spPr>
        <p:txBody>
          <a:bodyPr wrap="square" rtlCol="0" anchor="ctr"/>
          <a:lstStyle/>
          <a:p>
            <a:pPr marL="0" indent="0">
              <a:buNone/>
            </a:pPr>
            <a:r>
              <a:rPr lang="en-US" sz="1300" dirty="0">
                <a:solidFill>
                  <a:srgbClr val="2C3E45"/>
                </a:solidFill>
                <a:latin typeface="Calibri" pitchFamily="34" charset="0"/>
                <a:ea typeface="Calibri" pitchFamily="34" charset="-122"/>
                <a:cs typeface="Calibri" pitchFamily="34" charset="-120"/>
              </a:rPr>
              <a:t>where I write, run, and store the project</a:t>
            </a:r>
            <a:endParaRPr lang="en-US" sz="1300" dirty="0"/>
          </a:p>
        </p:txBody>
      </p:sp>
      <p:sp>
        <p:nvSpPr>
          <p:cNvPr id="25" name="Text 23"/>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26" name="Text 24"/>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THE DATA SOURCE</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The water network (Net3)</a:t>
            </a:r>
            <a:endParaRPr lang="en-US" sz="2500" dirty="0"/>
          </a:p>
        </p:txBody>
      </p:sp>
      <p:pic>
        <p:nvPicPr>
          <p:cNvPr id="7" name="Image 0" descr="/home/claude/img/network.png"/>
          <p:cNvPicPr>
            <a:picLocks noChangeAspect="1"/>
          </p:cNvPicPr>
          <p:nvPr/>
        </p:nvPicPr>
        <p:blipFill>
          <a:blip r:embed="rId3"/>
          <a:srcRect/>
          <a:stretch/>
        </p:blipFill>
        <p:spPr>
          <a:xfrm>
            <a:off x="3383280" y="1280160"/>
            <a:ext cx="5577840" cy="3474720"/>
          </a:xfrm>
          <a:prstGeom prst="rect">
            <a:avLst/>
          </a:prstGeom>
        </p:spPr>
      </p:pic>
      <p:sp>
        <p:nvSpPr>
          <p:cNvPr id="8" name="Shape 5"/>
          <p:cNvSpPr/>
          <p:nvPr/>
        </p:nvSpPr>
        <p:spPr>
          <a:xfrm>
            <a:off x="685800" y="5120640"/>
            <a:ext cx="201168" cy="201168"/>
          </a:xfrm>
          <a:prstGeom prst="rect">
            <a:avLst/>
          </a:prstGeom>
          <a:solidFill>
            <a:srgbClr val="0E7C86"/>
          </a:solidFill>
          <a:ln/>
        </p:spPr>
      </p:sp>
      <p:sp>
        <p:nvSpPr>
          <p:cNvPr id="9" name="Text 6"/>
          <p:cNvSpPr/>
          <p:nvPr/>
        </p:nvSpPr>
        <p:spPr>
          <a:xfrm>
            <a:off x="1097280" y="5029200"/>
            <a:ext cx="10332720" cy="822960"/>
          </a:xfrm>
          <a:prstGeom prst="rect">
            <a:avLst/>
          </a:prstGeom>
          <a:noFill/>
          <a:ln/>
        </p:spPr>
        <p:txBody>
          <a:bodyPr wrap="square" rtlCol="0" anchor="t"/>
          <a:lstStyle/>
          <a:p>
            <a:pPr marL="0" indent="0">
              <a:buNone/>
            </a:pPr>
            <a:r>
              <a:rPr lang="en-US" sz="1350" dirty="0">
                <a:solidFill>
                  <a:srgbClr val="2C3E45"/>
                </a:solidFill>
                <a:latin typeface="Calibri" pitchFamily="34" charset="0"/>
                <a:ea typeface="Calibri" pitchFamily="34" charset="-122"/>
                <a:cs typeface="Calibri" pitchFamily="34" charset="-120"/>
              </a:rPr>
              <a:t>Net3: a standard example network from the US EPA, built into WNTR - I did not create it.</a:t>
            </a:r>
            <a:endParaRPr lang="en-US" sz="1350" dirty="0"/>
          </a:p>
        </p:txBody>
      </p:sp>
      <p:sp>
        <p:nvSpPr>
          <p:cNvPr id="10" name="Shape 7"/>
          <p:cNvSpPr/>
          <p:nvPr/>
        </p:nvSpPr>
        <p:spPr>
          <a:xfrm>
            <a:off x="685800" y="5541264"/>
            <a:ext cx="201168" cy="201168"/>
          </a:xfrm>
          <a:prstGeom prst="rect">
            <a:avLst/>
          </a:prstGeom>
          <a:solidFill>
            <a:srgbClr val="0E7C86"/>
          </a:solidFill>
          <a:ln/>
        </p:spPr>
      </p:sp>
      <p:sp>
        <p:nvSpPr>
          <p:cNvPr id="11" name="Text 8"/>
          <p:cNvSpPr/>
          <p:nvPr/>
        </p:nvSpPr>
        <p:spPr>
          <a:xfrm>
            <a:off x="1097280" y="5449824"/>
            <a:ext cx="10332720" cy="822960"/>
          </a:xfrm>
          <a:prstGeom prst="rect">
            <a:avLst/>
          </a:prstGeom>
          <a:noFill/>
          <a:ln/>
        </p:spPr>
        <p:txBody>
          <a:bodyPr wrap="square" rtlCol="0" anchor="t"/>
          <a:lstStyle/>
          <a:p>
            <a:pPr marL="0" indent="0">
              <a:buNone/>
            </a:pPr>
            <a:r>
              <a:rPr lang="en-US" sz="1350" dirty="0">
                <a:solidFill>
                  <a:srgbClr val="2C3E45"/>
                </a:solidFill>
                <a:latin typeface="Calibri" pitchFamily="34" charset="0"/>
                <a:ea typeface="Calibri" pitchFamily="34" charset="-122"/>
                <a:cs typeface="Calibri" pitchFamily="34" charset="-120"/>
              </a:rPr>
              <a:t>92 junctions, 117 pipes, with water sources (blue) and tanks (amber).</a:t>
            </a:r>
            <a:endParaRPr lang="en-US" sz="1350" dirty="0"/>
          </a:p>
        </p:txBody>
      </p:sp>
      <p:sp>
        <p:nvSpPr>
          <p:cNvPr id="12" name="Shape 9"/>
          <p:cNvSpPr/>
          <p:nvPr/>
        </p:nvSpPr>
        <p:spPr>
          <a:xfrm>
            <a:off x="685800" y="5961888"/>
            <a:ext cx="201168" cy="201168"/>
          </a:xfrm>
          <a:prstGeom prst="rect">
            <a:avLst/>
          </a:prstGeom>
          <a:solidFill>
            <a:srgbClr val="0E7C86"/>
          </a:solidFill>
          <a:ln/>
        </p:spPr>
      </p:sp>
      <p:sp>
        <p:nvSpPr>
          <p:cNvPr id="13" name="Text 10"/>
          <p:cNvSpPr/>
          <p:nvPr/>
        </p:nvSpPr>
        <p:spPr>
          <a:xfrm>
            <a:off x="1097280" y="5870448"/>
            <a:ext cx="10332720" cy="822960"/>
          </a:xfrm>
          <a:prstGeom prst="rect">
            <a:avLst/>
          </a:prstGeom>
          <a:noFill/>
          <a:ln/>
        </p:spPr>
        <p:txBody>
          <a:bodyPr wrap="square" rtlCol="0" anchor="t"/>
          <a:lstStyle/>
          <a:p>
            <a:pPr marL="0" indent="0">
              <a:buNone/>
            </a:pPr>
            <a:r>
              <a:rPr lang="en-US" sz="1350" dirty="0">
                <a:solidFill>
                  <a:srgbClr val="2C3E45"/>
                </a:solidFill>
                <a:latin typeface="Calibri" pitchFamily="34" charset="0"/>
                <a:ea typeface="Calibri" pitchFamily="34" charset="-122"/>
                <a:cs typeface="Calibri" pitchFamily="34" charset="-120"/>
              </a:rPr>
              <a:t>The 6 teal dots are my sensors - I read pressure only there (utilities use few sensors).</a:t>
            </a:r>
            <a:endParaRPr lang="en-US" sz="1350" dirty="0"/>
          </a:p>
        </p:txBody>
      </p:sp>
      <p:sp>
        <p:nvSpPr>
          <p:cNvPr id="14" name="Shape 11"/>
          <p:cNvSpPr/>
          <p:nvPr/>
        </p:nvSpPr>
        <p:spPr>
          <a:xfrm>
            <a:off x="685800" y="6382512"/>
            <a:ext cx="201168" cy="201168"/>
          </a:xfrm>
          <a:prstGeom prst="rect">
            <a:avLst/>
          </a:prstGeom>
          <a:solidFill>
            <a:srgbClr val="0E7C86"/>
          </a:solidFill>
          <a:ln/>
        </p:spPr>
      </p:sp>
      <p:sp>
        <p:nvSpPr>
          <p:cNvPr id="15" name="Text 12"/>
          <p:cNvSpPr/>
          <p:nvPr/>
        </p:nvSpPr>
        <p:spPr>
          <a:xfrm>
            <a:off x="1097280" y="6291072"/>
            <a:ext cx="10332720" cy="822960"/>
          </a:xfrm>
          <a:prstGeom prst="rect">
            <a:avLst/>
          </a:prstGeom>
          <a:noFill/>
          <a:ln/>
        </p:spPr>
        <p:txBody>
          <a:bodyPr wrap="square" rtlCol="0" anchor="t"/>
          <a:lstStyle/>
          <a:p>
            <a:pPr marL="0" indent="0">
              <a:buNone/>
            </a:pPr>
            <a:r>
              <a:rPr lang="en-US" sz="1350" dirty="0">
                <a:solidFill>
                  <a:srgbClr val="2C3E45"/>
                </a:solidFill>
                <a:latin typeface="Calibri" pitchFamily="34" charset="0"/>
                <a:ea typeface="Calibri" pitchFamily="34" charset="-122"/>
                <a:cs typeface="Calibri" pitchFamily="34" charset="-120"/>
              </a:rPr>
              <a:t>Catching a leak in 117 pipes from only 6 sensors is what makes this a real ML problem.</a:t>
            </a:r>
            <a:endParaRPr lang="en-US" sz="1350" dirty="0"/>
          </a:p>
        </p:txBody>
      </p:sp>
      <p:sp>
        <p:nvSpPr>
          <p:cNvPr id="16" name="Text 13"/>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7" name="Text 14"/>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MY APPROACH</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Methodology</a:t>
            </a:r>
            <a:endParaRPr lang="en-US" sz="2500" dirty="0"/>
          </a:p>
        </p:txBody>
      </p:sp>
      <p:sp>
        <p:nvSpPr>
          <p:cNvPr id="7" name="Shape 5"/>
          <p:cNvSpPr/>
          <p:nvPr/>
        </p:nvSpPr>
        <p:spPr>
          <a:xfrm>
            <a:off x="685800" y="1463040"/>
            <a:ext cx="10789920" cy="987552"/>
          </a:xfrm>
          <a:prstGeom prst="roundRect">
            <a:avLst>
              <a:gd name="adj" fmla="val 7407"/>
            </a:avLst>
          </a:prstGeom>
          <a:solidFill>
            <a:srgbClr val="F4F9FA"/>
          </a:solidFill>
          <a:ln w="12700">
            <a:solidFill>
              <a:srgbClr val="DCEEF1"/>
            </a:solidFill>
            <a:prstDash val="solid"/>
          </a:ln>
        </p:spPr>
      </p:sp>
      <p:sp>
        <p:nvSpPr>
          <p:cNvPr id="8" name="Shape 6"/>
          <p:cNvSpPr/>
          <p:nvPr/>
        </p:nvSpPr>
        <p:spPr>
          <a:xfrm>
            <a:off x="868680" y="1700784"/>
            <a:ext cx="512064" cy="512064"/>
          </a:xfrm>
          <a:prstGeom prst="roundRect">
            <a:avLst>
              <a:gd name="adj" fmla="val 14286"/>
            </a:avLst>
          </a:prstGeom>
          <a:solidFill>
            <a:srgbClr val="0E7C86"/>
          </a:solidFill>
          <a:ln/>
        </p:spPr>
      </p:sp>
      <p:sp>
        <p:nvSpPr>
          <p:cNvPr id="9" name="Text 7"/>
          <p:cNvSpPr/>
          <p:nvPr/>
        </p:nvSpPr>
        <p:spPr>
          <a:xfrm>
            <a:off x="868680" y="1700784"/>
            <a:ext cx="512064" cy="512064"/>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600200" y="1591056"/>
            <a:ext cx="3108960" cy="731520"/>
          </a:xfrm>
          <a:prstGeom prst="rect">
            <a:avLst/>
          </a:prstGeom>
          <a:noFill/>
          <a:ln/>
        </p:spPr>
        <p:txBody>
          <a:bodyPr wrap="square" rtlCol="0" anchor="ctr"/>
          <a:lstStyle/>
          <a:p>
            <a:pPr marL="0" indent="0">
              <a:buNone/>
            </a:pPr>
            <a:r>
              <a:rPr lang="en-US" sz="1600" b="1" dirty="0">
                <a:solidFill>
                  <a:srgbClr val="0B2A3B"/>
                </a:solidFill>
                <a:latin typeface="Georgia" pitchFamily="34" charset="0"/>
                <a:ea typeface="Georgia" pitchFamily="34" charset="-122"/>
                <a:cs typeface="Georgia" pitchFamily="34" charset="-120"/>
              </a:rPr>
              <a:t>Generate data</a:t>
            </a:r>
            <a:endParaRPr lang="en-US" sz="1600" dirty="0"/>
          </a:p>
        </p:txBody>
      </p:sp>
      <p:sp>
        <p:nvSpPr>
          <p:cNvPr id="11" name="Text 9"/>
          <p:cNvSpPr/>
          <p:nvPr/>
        </p:nvSpPr>
        <p:spPr>
          <a:xfrm>
            <a:off x="4754880" y="1591056"/>
            <a:ext cx="6492240" cy="73152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simulate the network and place leaks to build labelled examples</a:t>
            </a:r>
            <a:endParaRPr lang="en-US" sz="1350" dirty="0"/>
          </a:p>
        </p:txBody>
      </p:sp>
      <p:sp>
        <p:nvSpPr>
          <p:cNvPr id="12" name="Shape 10"/>
          <p:cNvSpPr/>
          <p:nvPr/>
        </p:nvSpPr>
        <p:spPr>
          <a:xfrm>
            <a:off x="685800" y="2578608"/>
            <a:ext cx="10789920" cy="987552"/>
          </a:xfrm>
          <a:prstGeom prst="roundRect">
            <a:avLst>
              <a:gd name="adj" fmla="val 7407"/>
            </a:avLst>
          </a:prstGeom>
          <a:solidFill>
            <a:srgbClr val="F4F9FA"/>
          </a:solidFill>
          <a:ln w="12700">
            <a:solidFill>
              <a:srgbClr val="DCEEF1"/>
            </a:solidFill>
            <a:prstDash val="solid"/>
          </a:ln>
        </p:spPr>
      </p:sp>
      <p:sp>
        <p:nvSpPr>
          <p:cNvPr id="13" name="Shape 11"/>
          <p:cNvSpPr/>
          <p:nvPr/>
        </p:nvSpPr>
        <p:spPr>
          <a:xfrm>
            <a:off x="868680" y="2816352"/>
            <a:ext cx="512064" cy="512064"/>
          </a:xfrm>
          <a:prstGeom prst="roundRect">
            <a:avLst>
              <a:gd name="adj" fmla="val 14286"/>
            </a:avLst>
          </a:prstGeom>
          <a:solidFill>
            <a:srgbClr val="0E7C86"/>
          </a:solidFill>
          <a:ln/>
        </p:spPr>
      </p:sp>
      <p:sp>
        <p:nvSpPr>
          <p:cNvPr id="14" name="Text 12"/>
          <p:cNvSpPr/>
          <p:nvPr/>
        </p:nvSpPr>
        <p:spPr>
          <a:xfrm>
            <a:off x="868680" y="2816352"/>
            <a:ext cx="512064" cy="512064"/>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5" name="Text 13"/>
          <p:cNvSpPr/>
          <p:nvPr/>
        </p:nvSpPr>
        <p:spPr>
          <a:xfrm>
            <a:off x="1600200" y="2706624"/>
            <a:ext cx="3108960" cy="731520"/>
          </a:xfrm>
          <a:prstGeom prst="rect">
            <a:avLst/>
          </a:prstGeom>
          <a:noFill/>
          <a:ln/>
        </p:spPr>
        <p:txBody>
          <a:bodyPr wrap="square" rtlCol="0" anchor="ctr"/>
          <a:lstStyle/>
          <a:p>
            <a:pPr marL="0" indent="0">
              <a:buNone/>
            </a:pPr>
            <a:r>
              <a:rPr lang="en-US" sz="1600" b="1" dirty="0">
                <a:solidFill>
                  <a:srgbClr val="0B2A3B"/>
                </a:solidFill>
                <a:latin typeface="Georgia" pitchFamily="34" charset="0"/>
                <a:ea typeface="Georgia" pitchFamily="34" charset="-122"/>
                <a:cs typeface="Georgia" pitchFamily="34" charset="-120"/>
              </a:rPr>
              <a:t>Engineer a feature</a:t>
            </a:r>
            <a:endParaRPr lang="en-US" sz="1600" dirty="0"/>
          </a:p>
        </p:txBody>
      </p:sp>
      <p:sp>
        <p:nvSpPr>
          <p:cNvPr id="16" name="Text 14"/>
          <p:cNvSpPr/>
          <p:nvPr/>
        </p:nvSpPr>
        <p:spPr>
          <a:xfrm>
            <a:off x="4754880" y="2706624"/>
            <a:ext cx="6492240" cy="73152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turn raw pressure into the 'drop from normal' at each sensor</a:t>
            </a:r>
            <a:endParaRPr lang="en-US" sz="1350" dirty="0"/>
          </a:p>
        </p:txBody>
      </p:sp>
      <p:sp>
        <p:nvSpPr>
          <p:cNvPr id="17" name="Shape 15"/>
          <p:cNvSpPr/>
          <p:nvPr/>
        </p:nvSpPr>
        <p:spPr>
          <a:xfrm>
            <a:off x="685800" y="3694176"/>
            <a:ext cx="10789920" cy="987552"/>
          </a:xfrm>
          <a:prstGeom prst="roundRect">
            <a:avLst>
              <a:gd name="adj" fmla="val 7407"/>
            </a:avLst>
          </a:prstGeom>
          <a:solidFill>
            <a:srgbClr val="F4F9FA"/>
          </a:solidFill>
          <a:ln w="12700">
            <a:solidFill>
              <a:srgbClr val="DCEEF1"/>
            </a:solidFill>
            <a:prstDash val="solid"/>
          </a:ln>
        </p:spPr>
      </p:sp>
      <p:sp>
        <p:nvSpPr>
          <p:cNvPr id="18" name="Shape 16"/>
          <p:cNvSpPr/>
          <p:nvPr/>
        </p:nvSpPr>
        <p:spPr>
          <a:xfrm>
            <a:off x="868680" y="3931920"/>
            <a:ext cx="512064" cy="512064"/>
          </a:xfrm>
          <a:prstGeom prst="roundRect">
            <a:avLst>
              <a:gd name="adj" fmla="val 14286"/>
            </a:avLst>
          </a:prstGeom>
          <a:solidFill>
            <a:srgbClr val="0E7C86"/>
          </a:solidFill>
          <a:ln/>
        </p:spPr>
      </p:sp>
      <p:sp>
        <p:nvSpPr>
          <p:cNvPr id="19" name="Text 17"/>
          <p:cNvSpPr/>
          <p:nvPr/>
        </p:nvSpPr>
        <p:spPr>
          <a:xfrm>
            <a:off x="868680" y="3931920"/>
            <a:ext cx="512064" cy="512064"/>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0" name="Text 18"/>
          <p:cNvSpPr/>
          <p:nvPr/>
        </p:nvSpPr>
        <p:spPr>
          <a:xfrm>
            <a:off x="1600200" y="3822192"/>
            <a:ext cx="3108960" cy="731520"/>
          </a:xfrm>
          <a:prstGeom prst="rect">
            <a:avLst/>
          </a:prstGeom>
          <a:noFill/>
          <a:ln/>
        </p:spPr>
        <p:txBody>
          <a:bodyPr wrap="square" rtlCol="0" anchor="ctr"/>
          <a:lstStyle/>
          <a:p>
            <a:pPr marL="0" indent="0">
              <a:buNone/>
            </a:pPr>
            <a:r>
              <a:rPr lang="en-US" sz="1600" b="1" dirty="0">
                <a:solidFill>
                  <a:srgbClr val="0B2A3B"/>
                </a:solidFill>
                <a:latin typeface="Georgia" pitchFamily="34" charset="0"/>
                <a:ea typeface="Georgia" pitchFamily="34" charset="-122"/>
                <a:cs typeface="Georgia" pitchFamily="34" charset="-120"/>
              </a:rPr>
              <a:t>Train a model</a:t>
            </a:r>
            <a:endParaRPr lang="en-US" sz="1600" dirty="0"/>
          </a:p>
        </p:txBody>
      </p:sp>
      <p:sp>
        <p:nvSpPr>
          <p:cNvPr id="21" name="Text 19"/>
          <p:cNvSpPr/>
          <p:nvPr/>
        </p:nvSpPr>
        <p:spPr>
          <a:xfrm>
            <a:off x="4754880" y="3822192"/>
            <a:ext cx="6492240" cy="73152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train a Random Forest to detect a leak from the drops</a:t>
            </a:r>
            <a:endParaRPr lang="en-US" sz="1350" dirty="0"/>
          </a:p>
        </p:txBody>
      </p:sp>
      <p:sp>
        <p:nvSpPr>
          <p:cNvPr id="22" name="Shape 20"/>
          <p:cNvSpPr/>
          <p:nvPr/>
        </p:nvSpPr>
        <p:spPr>
          <a:xfrm>
            <a:off x="685800" y="4809744"/>
            <a:ext cx="10789920" cy="987552"/>
          </a:xfrm>
          <a:prstGeom prst="roundRect">
            <a:avLst>
              <a:gd name="adj" fmla="val 7407"/>
            </a:avLst>
          </a:prstGeom>
          <a:solidFill>
            <a:srgbClr val="F4F9FA"/>
          </a:solidFill>
          <a:ln w="12700">
            <a:solidFill>
              <a:srgbClr val="DCEEF1"/>
            </a:solidFill>
            <a:prstDash val="solid"/>
          </a:ln>
        </p:spPr>
      </p:sp>
      <p:sp>
        <p:nvSpPr>
          <p:cNvPr id="23" name="Shape 21"/>
          <p:cNvSpPr/>
          <p:nvPr/>
        </p:nvSpPr>
        <p:spPr>
          <a:xfrm>
            <a:off x="868680" y="5047488"/>
            <a:ext cx="512064" cy="512064"/>
          </a:xfrm>
          <a:prstGeom prst="roundRect">
            <a:avLst>
              <a:gd name="adj" fmla="val 14286"/>
            </a:avLst>
          </a:prstGeom>
          <a:solidFill>
            <a:srgbClr val="0E7C86"/>
          </a:solidFill>
          <a:ln/>
        </p:spPr>
      </p:sp>
      <p:sp>
        <p:nvSpPr>
          <p:cNvPr id="24" name="Text 22"/>
          <p:cNvSpPr/>
          <p:nvPr/>
        </p:nvSpPr>
        <p:spPr>
          <a:xfrm>
            <a:off x="868680" y="5047488"/>
            <a:ext cx="512064" cy="512064"/>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5" name="Text 23"/>
          <p:cNvSpPr/>
          <p:nvPr/>
        </p:nvSpPr>
        <p:spPr>
          <a:xfrm>
            <a:off x="1600200" y="4937760"/>
            <a:ext cx="3108960" cy="731520"/>
          </a:xfrm>
          <a:prstGeom prst="rect">
            <a:avLst/>
          </a:prstGeom>
          <a:noFill/>
          <a:ln/>
        </p:spPr>
        <p:txBody>
          <a:bodyPr wrap="square" rtlCol="0" anchor="ctr"/>
          <a:lstStyle/>
          <a:p>
            <a:pPr marL="0" indent="0">
              <a:buNone/>
            </a:pPr>
            <a:r>
              <a:rPr lang="en-US" sz="1600" b="1" dirty="0">
                <a:solidFill>
                  <a:srgbClr val="0B2A3B"/>
                </a:solidFill>
                <a:latin typeface="Georgia" pitchFamily="34" charset="0"/>
                <a:ea typeface="Georgia" pitchFamily="34" charset="-122"/>
                <a:cs typeface="Georgia" pitchFamily="34" charset="-120"/>
              </a:rPr>
              <a:t>Evaluate &amp; compare</a:t>
            </a:r>
            <a:endParaRPr lang="en-US" sz="1600" dirty="0"/>
          </a:p>
        </p:txBody>
      </p:sp>
      <p:sp>
        <p:nvSpPr>
          <p:cNvPr id="26" name="Text 24"/>
          <p:cNvSpPr/>
          <p:nvPr/>
        </p:nvSpPr>
        <p:spPr>
          <a:xfrm>
            <a:off x="4754880" y="4937760"/>
            <a:ext cx="6492240" cy="731520"/>
          </a:xfrm>
          <a:prstGeom prst="rect">
            <a:avLst/>
          </a:prstGeom>
          <a:noFill/>
          <a:ln/>
        </p:spPr>
        <p:txBody>
          <a:bodyPr wrap="square" rtlCol="0" anchor="ctr"/>
          <a:lstStyle/>
          <a:p>
            <a:pPr marL="0" indent="0">
              <a:buNone/>
            </a:pPr>
            <a:r>
              <a:rPr lang="en-US" sz="1350" dirty="0">
                <a:solidFill>
                  <a:srgbClr val="2C3E45"/>
                </a:solidFill>
                <a:latin typeface="Calibri" pitchFamily="34" charset="0"/>
                <a:ea typeface="Calibri" pitchFamily="34" charset="-122"/>
                <a:cs typeface="Calibri" pitchFamily="34" charset="-120"/>
              </a:rPr>
              <a:t>test on unseen leaks and compare against other models</a:t>
            </a:r>
            <a:endParaRPr lang="en-US" sz="1350" dirty="0"/>
          </a:p>
        </p:txBody>
      </p:sp>
      <p:sp>
        <p:nvSpPr>
          <p:cNvPr id="27" name="Text 25"/>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28" name="Text 26"/>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WHAT I DID</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Dataset: 588 labelled rows</a:t>
            </a:r>
            <a:endParaRPr lang="en-US" sz="2500" dirty="0"/>
          </a:p>
        </p:txBody>
      </p:sp>
      <p:pic>
        <p:nvPicPr>
          <p:cNvPr id="7" name="Image 0" descr="/home/claude/img/table.png"/>
          <p:cNvPicPr>
            <a:picLocks noChangeAspect="1"/>
          </p:cNvPicPr>
          <p:nvPr/>
        </p:nvPicPr>
        <p:blipFill>
          <a:blip r:embed="rId3"/>
          <a:srcRect/>
          <a:stretch/>
        </p:blipFill>
        <p:spPr>
          <a:xfrm>
            <a:off x="1005840" y="1325880"/>
            <a:ext cx="10149840" cy="2926080"/>
          </a:xfrm>
          <a:prstGeom prst="rect">
            <a:avLst/>
          </a:prstGeom>
        </p:spPr>
      </p:pic>
      <p:sp>
        <p:nvSpPr>
          <p:cNvPr id="8" name="Shape 5"/>
          <p:cNvSpPr/>
          <p:nvPr/>
        </p:nvSpPr>
        <p:spPr>
          <a:xfrm>
            <a:off x="685800" y="4526280"/>
            <a:ext cx="201168" cy="201168"/>
          </a:xfrm>
          <a:prstGeom prst="rect">
            <a:avLst/>
          </a:prstGeom>
          <a:solidFill>
            <a:srgbClr val="0E7C86"/>
          </a:solidFill>
          <a:ln/>
        </p:spPr>
      </p:sp>
      <p:sp>
        <p:nvSpPr>
          <p:cNvPr id="9" name="Text 6"/>
          <p:cNvSpPr/>
          <p:nvPr/>
        </p:nvSpPr>
        <p:spPr>
          <a:xfrm>
            <a:off x="1097280" y="4434840"/>
            <a:ext cx="10332720" cy="822960"/>
          </a:xfrm>
          <a:prstGeom prst="rect">
            <a:avLst/>
          </a:prstGeom>
          <a:noFill/>
          <a:ln/>
        </p:spPr>
        <p:txBody>
          <a:bodyPr wrap="square" rtlCol="0" anchor="t"/>
          <a:lstStyle/>
          <a:p>
            <a:pPr marL="0" indent="0">
              <a:buNone/>
            </a:pPr>
            <a:r>
              <a:rPr lang="en-US" sz="1400" dirty="0">
                <a:solidFill>
                  <a:srgbClr val="2C3E45"/>
                </a:solidFill>
                <a:latin typeface="Calibri" pitchFamily="34" charset="0"/>
                <a:ea typeface="Calibri" pitchFamily="34" charset="-122"/>
                <a:cs typeface="Calibri" pitchFamily="34" charset="-120"/>
              </a:rPr>
              <a:t>Generated by simulation - I place each leak, so every row has a known true label.</a:t>
            </a:r>
            <a:endParaRPr lang="en-US" sz="1400" dirty="0"/>
          </a:p>
        </p:txBody>
      </p:sp>
      <p:sp>
        <p:nvSpPr>
          <p:cNvPr id="10" name="Shape 7"/>
          <p:cNvSpPr/>
          <p:nvPr/>
        </p:nvSpPr>
        <p:spPr>
          <a:xfrm>
            <a:off x="685800" y="5074920"/>
            <a:ext cx="201168" cy="201168"/>
          </a:xfrm>
          <a:prstGeom prst="rect">
            <a:avLst/>
          </a:prstGeom>
          <a:solidFill>
            <a:srgbClr val="0E7C86"/>
          </a:solidFill>
          <a:ln/>
        </p:spPr>
      </p:sp>
      <p:sp>
        <p:nvSpPr>
          <p:cNvPr id="11" name="Text 8"/>
          <p:cNvSpPr/>
          <p:nvPr/>
        </p:nvSpPr>
        <p:spPr>
          <a:xfrm>
            <a:off x="1097280" y="4983480"/>
            <a:ext cx="10332720" cy="822960"/>
          </a:xfrm>
          <a:prstGeom prst="rect">
            <a:avLst/>
          </a:prstGeom>
          <a:noFill/>
          <a:ln/>
        </p:spPr>
        <p:txBody>
          <a:bodyPr wrap="square" rtlCol="0" anchor="t"/>
          <a:lstStyle/>
          <a:p>
            <a:pPr marL="0" indent="0">
              <a:buNone/>
            </a:pPr>
            <a:r>
              <a:rPr lang="en-US" sz="1400" dirty="0">
                <a:solidFill>
                  <a:srgbClr val="2C3E45"/>
                </a:solidFill>
                <a:latin typeface="Calibri" pitchFamily="34" charset="0"/>
                <a:ea typeface="Calibri" pitchFamily="34" charset="-122"/>
                <a:cs typeface="Calibri" pitchFamily="34" charset="-120"/>
              </a:rPr>
              <a:t>Inputs = the sensor 'drop' columns; label = leak (1) or no-leak (0).</a:t>
            </a:r>
            <a:endParaRPr lang="en-US" sz="1400" dirty="0"/>
          </a:p>
        </p:txBody>
      </p:sp>
      <p:sp>
        <p:nvSpPr>
          <p:cNvPr id="12" name="Shape 9"/>
          <p:cNvSpPr/>
          <p:nvPr/>
        </p:nvSpPr>
        <p:spPr>
          <a:xfrm>
            <a:off x="685800" y="5623560"/>
            <a:ext cx="201168" cy="201168"/>
          </a:xfrm>
          <a:prstGeom prst="rect">
            <a:avLst/>
          </a:prstGeom>
          <a:solidFill>
            <a:srgbClr val="0E7C86"/>
          </a:solidFill>
          <a:ln/>
        </p:spPr>
      </p:sp>
      <p:sp>
        <p:nvSpPr>
          <p:cNvPr id="13" name="Text 10"/>
          <p:cNvSpPr/>
          <p:nvPr/>
        </p:nvSpPr>
        <p:spPr>
          <a:xfrm>
            <a:off x="1097280" y="5532120"/>
            <a:ext cx="10332720" cy="822960"/>
          </a:xfrm>
          <a:prstGeom prst="rect">
            <a:avLst/>
          </a:prstGeom>
          <a:noFill/>
          <a:ln/>
        </p:spPr>
        <p:txBody>
          <a:bodyPr wrap="square" rtlCol="0" anchor="t"/>
          <a:lstStyle/>
          <a:p>
            <a:pPr marL="0" indent="0">
              <a:buNone/>
            </a:pPr>
            <a:r>
              <a:rPr lang="en-US" sz="1400" dirty="0">
                <a:solidFill>
                  <a:srgbClr val="2C3E45"/>
                </a:solidFill>
                <a:latin typeface="Calibri" pitchFamily="34" charset="0"/>
                <a:ea typeface="Calibri" pitchFamily="34" charset="-122"/>
                <a:cs typeface="Calibri" pitchFamily="34" charset="-120"/>
              </a:rPr>
              <a:t>No-leak rows have small drops; leak rows have big drops - the pattern the model learns.</a:t>
            </a:r>
            <a:endParaRPr lang="en-US" sz="1400" dirty="0"/>
          </a:p>
        </p:txBody>
      </p:sp>
      <p:sp>
        <p:nvSpPr>
          <p:cNvPr id="14" name="Text 11"/>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5" name="Text 12"/>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WHAT I DID</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Feature engineering: the 'drop from normal'</a:t>
            </a:r>
            <a:endParaRPr lang="en-US" sz="2500" dirty="0"/>
          </a:p>
        </p:txBody>
      </p:sp>
      <p:sp>
        <p:nvSpPr>
          <p:cNvPr id="7" name="Shape 5"/>
          <p:cNvSpPr/>
          <p:nvPr/>
        </p:nvSpPr>
        <p:spPr>
          <a:xfrm>
            <a:off x="685800" y="1371600"/>
            <a:ext cx="10789920" cy="731520"/>
          </a:xfrm>
          <a:prstGeom prst="roundRect">
            <a:avLst>
              <a:gd name="adj" fmla="val 10000"/>
            </a:avLst>
          </a:prstGeom>
          <a:solidFill>
            <a:srgbClr val="0B2A3B"/>
          </a:solidFill>
          <a:ln/>
        </p:spPr>
      </p:sp>
      <p:sp>
        <p:nvSpPr>
          <p:cNvPr id="8" name="Text 6"/>
          <p:cNvSpPr/>
          <p:nvPr/>
        </p:nvSpPr>
        <p:spPr>
          <a:xfrm>
            <a:off x="685800" y="1371600"/>
            <a:ext cx="10789920" cy="7315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drop  =  normal pressure  −  actual reading   (+ a little noise)</a:t>
            </a:r>
            <a:endParaRPr lang="en-US" sz="1800" dirty="0"/>
          </a:p>
        </p:txBody>
      </p:sp>
      <p:pic>
        <p:nvPicPr>
          <p:cNvPr id="9" name="Image 0" descr="/home/claude/img/pressure.png"/>
          <p:cNvPicPr>
            <a:picLocks noChangeAspect="1"/>
          </p:cNvPicPr>
          <p:nvPr/>
        </p:nvPicPr>
        <p:blipFill>
          <a:blip r:embed="rId3"/>
          <a:srcRect/>
          <a:stretch/>
        </p:blipFill>
        <p:spPr>
          <a:xfrm>
            <a:off x="7223760" y="2331720"/>
            <a:ext cx="4480560" cy="2743200"/>
          </a:xfrm>
          <a:prstGeom prst="rect">
            <a:avLst/>
          </a:prstGeom>
        </p:spPr>
      </p:pic>
      <p:sp>
        <p:nvSpPr>
          <p:cNvPr id="10" name="Shape 7"/>
          <p:cNvSpPr/>
          <p:nvPr/>
        </p:nvSpPr>
        <p:spPr>
          <a:xfrm>
            <a:off x="685800" y="2468880"/>
            <a:ext cx="201168" cy="201168"/>
          </a:xfrm>
          <a:prstGeom prst="rect">
            <a:avLst/>
          </a:prstGeom>
          <a:solidFill>
            <a:srgbClr val="0E7C86"/>
          </a:solidFill>
          <a:ln/>
        </p:spPr>
      </p:sp>
      <p:sp>
        <p:nvSpPr>
          <p:cNvPr id="11" name="Text 8"/>
          <p:cNvSpPr/>
          <p:nvPr/>
        </p:nvSpPr>
        <p:spPr>
          <a:xfrm>
            <a:off x="1097280" y="2377440"/>
            <a:ext cx="10332720" cy="822960"/>
          </a:xfrm>
          <a:prstGeom prst="rect">
            <a:avLst/>
          </a:prstGeom>
          <a:noFill/>
          <a:ln/>
        </p:spPr>
        <p:txBody>
          <a:bodyPr wrap="square" rtlCol="0" anchor="t"/>
          <a:lstStyle/>
          <a:p>
            <a:pPr marL="0" indent="0">
              <a:buNone/>
            </a:pPr>
            <a:r>
              <a:rPr lang="en-US" sz="1250" dirty="0">
                <a:solidFill>
                  <a:srgbClr val="2C3E45"/>
                </a:solidFill>
                <a:latin typeface="Calibri" pitchFamily="34" charset="0"/>
                <a:ea typeface="Calibri" pitchFamily="34" charset="-122"/>
                <a:cs typeface="Calibri" pitchFamily="34" charset="-120"/>
              </a:rPr>
              <a:t>Problem: raw pressure rises and falls all day with water use, so a leak hides in it.</a:t>
            </a:r>
            <a:endParaRPr lang="en-US" sz="1250" dirty="0"/>
          </a:p>
        </p:txBody>
      </p:sp>
      <p:sp>
        <p:nvSpPr>
          <p:cNvPr id="12" name="Shape 9"/>
          <p:cNvSpPr/>
          <p:nvPr/>
        </p:nvSpPr>
        <p:spPr>
          <a:xfrm>
            <a:off x="685800" y="3072384"/>
            <a:ext cx="201168" cy="201168"/>
          </a:xfrm>
          <a:prstGeom prst="rect">
            <a:avLst/>
          </a:prstGeom>
          <a:solidFill>
            <a:srgbClr val="0E7C86"/>
          </a:solidFill>
          <a:ln/>
        </p:spPr>
      </p:sp>
      <p:sp>
        <p:nvSpPr>
          <p:cNvPr id="13" name="Text 10"/>
          <p:cNvSpPr/>
          <p:nvPr/>
        </p:nvSpPr>
        <p:spPr>
          <a:xfrm>
            <a:off x="1097280" y="2980944"/>
            <a:ext cx="10332720" cy="822960"/>
          </a:xfrm>
          <a:prstGeom prst="rect">
            <a:avLst/>
          </a:prstGeom>
          <a:noFill/>
          <a:ln/>
        </p:spPr>
        <p:txBody>
          <a:bodyPr wrap="square" rtlCol="0" anchor="t"/>
          <a:lstStyle/>
          <a:p>
            <a:pPr marL="0" indent="0">
              <a:buNone/>
            </a:pPr>
            <a:r>
              <a:rPr lang="en-US" sz="1250" dirty="0">
                <a:solidFill>
                  <a:srgbClr val="2C3E45"/>
                </a:solidFill>
                <a:latin typeface="Calibri" pitchFamily="34" charset="0"/>
                <a:ea typeface="Calibri" pitchFamily="34" charset="-122"/>
                <a:cs typeface="Calibri" pitchFamily="34" charset="-120"/>
              </a:rPr>
              <a:t>My fix: for each sensor I subtract the actual reading from its normal level - the 'drop'.</a:t>
            </a:r>
            <a:endParaRPr lang="en-US" sz="1250" dirty="0"/>
          </a:p>
        </p:txBody>
      </p:sp>
      <p:sp>
        <p:nvSpPr>
          <p:cNvPr id="14" name="Shape 11"/>
          <p:cNvSpPr/>
          <p:nvPr/>
        </p:nvSpPr>
        <p:spPr>
          <a:xfrm>
            <a:off x="685800" y="3675888"/>
            <a:ext cx="201168" cy="201168"/>
          </a:xfrm>
          <a:prstGeom prst="rect">
            <a:avLst/>
          </a:prstGeom>
          <a:solidFill>
            <a:srgbClr val="0E7C86"/>
          </a:solidFill>
          <a:ln/>
        </p:spPr>
      </p:sp>
      <p:sp>
        <p:nvSpPr>
          <p:cNvPr id="15" name="Text 12"/>
          <p:cNvSpPr/>
          <p:nvPr/>
        </p:nvSpPr>
        <p:spPr>
          <a:xfrm>
            <a:off x="1097280" y="3584448"/>
            <a:ext cx="10332720" cy="822960"/>
          </a:xfrm>
          <a:prstGeom prst="rect">
            <a:avLst/>
          </a:prstGeom>
          <a:noFill/>
          <a:ln/>
        </p:spPr>
        <p:txBody>
          <a:bodyPr wrap="square" rtlCol="0" anchor="t"/>
          <a:lstStyle/>
          <a:p>
            <a:pPr marL="0" indent="0">
              <a:buNone/>
            </a:pPr>
            <a:r>
              <a:rPr lang="en-US" sz="1250" dirty="0">
                <a:solidFill>
                  <a:srgbClr val="2C3E45"/>
                </a:solidFill>
                <a:latin typeface="Calibri" pitchFamily="34" charset="0"/>
                <a:ea typeface="Calibri" pitchFamily="34" charset="-122"/>
                <a:cs typeface="Calibri" pitchFamily="34" charset="-120"/>
              </a:rPr>
              <a:t>Why it works: this cancels the daily pattern, so only a real leak shows a big drop.</a:t>
            </a:r>
            <a:endParaRPr lang="en-US" sz="1250" dirty="0"/>
          </a:p>
        </p:txBody>
      </p:sp>
      <p:sp>
        <p:nvSpPr>
          <p:cNvPr id="16" name="Shape 13"/>
          <p:cNvSpPr/>
          <p:nvPr/>
        </p:nvSpPr>
        <p:spPr>
          <a:xfrm>
            <a:off x="685800" y="4279392"/>
            <a:ext cx="201168" cy="201168"/>
          </a:xfrm>
          <a:prstGeom prst="rect">
            <a:avLst/>
          </a:prstGeom>
          <a:solidFill>
            <a:srgbClr val="0E7C86"/>
          </a:solidFill>
          <a:ln/>
        </p:spPr>
      </p:sp>
      <p:sp>
        <p:nvSpPr>
          <p:cNvPr id="17" name="Text 14"/>
          <p:cNvSpPr/>
          <p:nvPr/>
        </p:nvSpPr>
        <p:spPr>
          <a:xfrm>
            <a:off x="1097280" y="4187952"/>
            <a:ext cx="10332720" cy="822960"/>
          </a:xfrm>
          <a:prstGeom prst="rect">
            <a:avLst/>
          </a:prstGeom>
          <a:noFill/>
          <a:ln/>
        </p:spPr>
        <p:txBody>
          <a:bodyPr wrap="square" rtlCol="0" anchor="t"/>
          <a:lstStyle/>
          <a:p>
            <a:pPr marL="0" indent="0">
              <a:buNone/>
            </a:pPr>
            <a:r>
              <a:rPr lang="en-US" sz="1250" dirty="0">
                <a:solidFill>
                  <a:srgbClr val="2C3E45"/>
                </a:solidFill>
                <a:latin typeface="Calibri" pitchFamily="34" charset="0"/>
                <a:ea typeface="Calibri" pitchFamily="34" charset="-122"/>
                <a:cs typeface="Calibri" pitchFamily="34" charset="-120"/>
              </a:rPr>
              <a:t>Small drop = no leak;  big drop = leak - a clear signal the model can learn.</a:t>
            </a:r>
            <a:endParaRPr lang="en-US" sz="1250" dirty="0"/>
          </a:p>
        </p:txBody>
      </p:sp>
      <p:sp>
        <p:nvSpPr>
          <p:cNvPr id="18" name="Shape 15"/>
          <p:cNvSpPr/>
          <p:nvPr/>
        </p:nvSpPr>
        <p:spPr>
          <a:xfrm>
            <a:off x="685800" y="4882896"/>
            <a:ext cx="201168" cy="201168"/>
          </a:xfrm>
          <a:prstGeom prst="rect">
            <a:avLst/>
          </a:prstGeom>
          <a:solidFill>
            <a:srgbClr val="0E7C86"/>
          </a:solidFill>
          <a:ln/>
        </p:spPr>
      </p:sp>
      <p:sp>
        <p:nvSpPr>
          <p:cNvPr id="19" name="Text 16"/>
          <p:cNvSpPr/>
          <p:nvPr/>
        </p:nvSpPr>
        <p:spPr>
          <a:xfrm>
            <a:off x="1097280" y="4791456"/>
            <a:ext cx="10332720" cy="822960"/>
          </a:xfrm>
          <a:prstGeom prst="rect">
            <a:avLst/>
          </a:prstGeom>
          <a:noFill/>
          <a:ln/>
        </p:spPr>
        <p:txBody>
          <a:bodyPr wrap="square" rtlCol="0" anchor="t"/>
          <a:lstStyle/>
          <a:p>
            <a:pPr marL="0" indent="0">
              <a:buNone/>
            </a:pPr>
            <a:r>
              <a:rPr lang="en-US" sz="1250" dirty="0">
                <a:solidFill>
                  <a:srgbClr val="2C3E45"/>
                </a:solidFill>
                <a:latin typeface="Calibri" pitchFamily="34" charset="0"/>
                <a:ea typeface="Calibri" pitchFamily="34" charset="-122"/>
                <a:cs typeface="Calibri" pitchFamily="34" charset="-120"/>
              </a:rPr>
              <a:t>I add a little sensor noise for realism (avoids a fake 100%). This is 'feature engineering'.</a:t>
            </a:r>
            <a:endParaRPr lang="en-US" sz="1250" dirty="0"/>
          </a:p>
        </p:txBody>
      </p:sp>
      <p:sp>
        <p:nvSpPr>
          <p:cNvPr id="20" name="Text 17"/>
          <p:cNvSpPr/>
          <p:nvPr/>
        </p:nvSpPr>
        <p:spPr>
          <a:xfrm>
            <a:off x="685800" y="6126480"/>
            <a:ext cx="10789920" cy="320040"/>
          </a:xfrm>
          <a:prstGeom prst="rect">
            <a:avLst/>
          </a:prstGeom>
          <a:noFill/>
          <a:ln/>
        </p:spPr>
        <p:txBody>
          <a:bodyPr wrap="square" rtlCol="0" anchor="ctr"/>
          <a:lstStyle/>
          <a:p>
            <a:pPr marL="0" indent="0">
              <a:buNone/>
            </a:pPr>
            <a:r>
              <a:rPr lang="en-US" sz="1150" b="1" dirty="0">
                <a:solidFill>
                  <a:srgbClr val="0B2A3B"/>
                </a:solidFill>
                <a:latin typeface="Calibri" pitchFamily="34" charset="0"/>
                <a:ea typeface="Calibri" pitchFamily="34" charset="-122"/>
                <a:cs typeface="Calibri" pitchFamily="34" charset="-120"/>
              </a:rPr>
              <a:t>Chart: pressure is steady before the leak, then clearly drops after it starts at hour 12.</a:t>
            </a:r>
            <a:endParaRPr lang="en-US" sz="1150" dirty="0"/>
          </a:p>
        </p:txBody>
      </p:sp>
      <p:sp>
        <p:nvSpPr>
          <p:cNvPr id="21" name="Text 18"/>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22" name="Text 19"/>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WHAT I DID</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Model: Random Forest</a:t>
            </a:r>
            <a:endParaRPr lang="en-US" sz="2500" dirty="0"/>
          </a:p>
        </p:txBody>
      </p:sp>
      <p:pic>
        <p:nvPicPr>
          <p:cNvPr id="7" name="Image 0" descr="/home/claude/img/forest.png"/>
          <p:cNvPicPr>
            <a:picLocks noChangeAspect="1"/>
          </p:cNvPicPr>
          <p:nvPr/>
        </p:nvPicPr>
        <p:blipFill>
          <a:blip r:embed="rId3"/>
          <a:srcRect/>
          <a:stretch/>
        </p:blipFill>
        <p:spPr>
          <a:xfrm>
            <a:off x="1463040" y="1325880"/>
            <a:ext cx="9235440" cy="3108960"/>
          </a:xfrm>
          <a:prstGeom prst="rect">
            <a:avLst/>
          </a:prstGeom>
        </p:spPr>
      </p:pic>
      <p:sp>
        <p:nvSpPr>
          <p:cNvPr id="8" name="Shape 5"/>
          <p:cNvSpPr/>
          <p:nvPr/>
        </p:nvSpPr>
        <p:spPr>
          <a:xfrm>
            <a:off x="685800" y="4709160"/>
            <a:ext cx="201168" cy="201168"/>
          </a:xfrm>
          <a:prstGeom prst="rect">
            <a:avLst/>
          </a:prstGeom>
          <a:solidFill>
            <a:srgbClr val="0E7C86"/>
          </a:solidFill>
          <a:ln/>
        </p:spPr>
      </p:sp>
      <p:sp>
        <p:nvSpPr>
          <p:cNvPr id="9" name="Text 6"/>
          <p:cNvSpPr/>
          <p:nvPr/>
        </p:nvSpPr>
        <p:spPr>
          <a:xfrm>
            <a:off x="1097280" y="4617720"/>
            <a:ext cx="10332720" cy="822960"/>
          </a:xfrm>
          <a:prstGeom prst="rect">
            <a:avLst/>
          </a:prstGeom>
          <a:noFill/>
          <a:ln/>
        </p:spPr>
        <p:txBody>
          <a:bodyPr wrap="square" rtlCol="0" anchor="t"/>
          <a:lstStyle/>
          <a:p>
            <a:pPr marL="0" indent="0">
              <a:buNone/>
            </a:pPr>
            <a:r>
              <a:rPr lang="en-US" sz="1500" dirty="0">
                <a:solidFill>
                  <a:srgbClr val="2C3E45"/>
                </a:solidFill>
                <a:latin typeface="Calibri" pitchFamily="34" charset="0"/>
                <a:ea typeface="Calibri" pitchFamily="34" charset="-122"/>
                <a:cs typeface="Calibri" pitchFamily="34" charset="-120"/>
              </a:rPr>
              <a:t>A Random Forest builds many decision trees, each on a random slice of the data; they vote.</a:t>
            </a:r>
            <a:endParaRPr lang="en-US" sz="1500" dirty="0"/>
          </a:p>
        </p:txBody>
      </p:sp>
      <p:sp>
        <p:nvSpPr>
          <p:cNvPr id="10" name="Shape 7"/>
          <p:cNvSpPr/>
          <p:nvPr/>
        </p:nvSpPr>
        <p:spPr>
          <a:xfrm>
            <a:off x="685800" y="5394960"/>
            <a:ext cx="201168" cy="201168"/>
          </a:xfrm>
          <a:prstGeom prst="rect">
            <a:avLst/>
          </a:prstGeom>
          <a:solidFill>
            <a:srgbClr val="0E7C86"/>
          </a:solidFill>
          <a:ln/>
        </p:spPr>
      </p:sp>
      <p:sp>
        <p:nvSpPr>
          <p:cNvPr id="11" name="Text 8"/>
          <p:cNvSpPr/>
          <p:nvPr/>
        </p:nvSpPr>
        <p:spPr>
          <a:xfrm>
            <a:off x="1097280" y="5303520"/>
            <a:ext cx="10332720" cy="822960"/>
          </a:xfrm>
          <a:prstGeom prst="rect">
            <a:avLst/>
          </a:prstGeom>
          <a:noFill/>
          <a:ln/>
        </p:spPr>
        <p:txBody>
          <a:bodyPr wrap="square" rtlCol="0" anchor="t"/>
          <a:lstStyle/>
          <a:p>
            <a:pPr marL="0" indent="0">
              <a:buNone/>
            </a:pPr>
            <a:r>
              <a:rPr lang="en-US" sz="1500" dirty="0">
                <a:solidFill>
                  <a:srgbClr val="2C3E45"/>
                </a:solidFill>
                <a:latin typeface="Calibri" pitchFamily="34" charset="0"/>
                <a:ea typeface="Calibri" pitchFamily="34" charset="-122"/>
                <a:cs typeface="Calibri" pitchFamily="34" charset="-120"/>
              </a:rPr>
              <a:t>The majority vote wins, so a single tree's mistake is outvoted - making it reliable and robust to noise.</a:t>
            </a:r>
            <a:endParaRPr lang="en-US" sz="1500" dirty="0"/>
          </a:p>
        </p:txBody>
      </p:sp>
      <p:sp>
        <p:nvSpPr>
          <p:cNvPr id="12" name="Text 9"/>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3" name="Text 10"/>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WHAT I DID - RESULT</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Detection accuracy</a:t>
            </a:r>
            <a:endParaRPr lang="en-US" sz="2500" dirty="0"/>
          </a:p>
        </p:txBody>
      </p:sp>
      <p:sp>
        <p:nvSpPr>
          <p:cNvPr id="7" name="Shape 5"/>
          <p:cNvSpPr/>
          <p:nvPr/>
        </p:nvSpPr>
        <p:spPr>
          <a:xfrm>
            <a:off x="3931920" y="1371600"/>
            <a:ext cx="4297680" cy="1554480"/>
          </a:xfrm>
          <a:prstGeom prst="roundRect">
            <a:avLst>
              <a:gd name="adj" fmla="val 7059"/>
            </a:avLst>
          </a:prstGeom>
          <a:solidFill>
            <a:srgbClr val="0E7C86"/>
          </a:solidFill>
          <a:ln/>
        </p:spPr>
      </p:sp>
      <p:sp>
        <p:nvSpPr>
          <p:cNvPr id="8" name="Text 6"/>
          <p:cNvSpPr/>
          <p:nvPr/>
        </p:nvSpPr>
        <p:spPr>
          <a:xfrm>
            <a:off x="3931920" y="1463040"/>
            <a:ext cx="4297680" cy="100584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98%</a:t>
            </a:r>
            <a:endParaRPr lang="en-US" sz="5200" dirty="0"/>
          </a:p>
        </p:txBody>
      </p:sp>
      <p:sp>
        <p:nvSpPr>
          <p:cNvPr id="9" name="Text 7"/>
          <p:cNvSpPr/>
          <p:nvPr/>
        </p:nvSpPr>
        <p:spPr>
          <a:xfrm>
            <a:off x="3931920" y="2423160"/>
            <a:ext cx="4297680" cy="365760"/>
          </a:xfrm>
          <a:prstGeom prst="rect">
            <a:avLst/>
          </a:prstGeom>
          <a:noFill/>
          <a:ln/>
        </p:spPr>
        <p:txBody>
          <a:bodyPr wrap="square" rtlCol="0" anchor="ctr"/>
          <a:lstStyle/>
          <a:p>
            <a:pPr marL="0" indent="0" algn="ctr">
              <a:buNone/>
            </a:pPr>
            <a:r>
              <a:rPr lang="en-US" sz="1300" dirty="0">
                <a:solidFill>
                  <a:srgbClr val="DCEEF1"/>
                </a:solidFill>
                <a:latin typeface="Calibri" pitchFamily="34" charset="0"/>
                <a:ea typeface="Calibri" pitchFamily="34" charset="-122"/>
                <a:cs typeface="Calibri" pitchFamily="34" charset="-120"/>
              </a:rPr>
              <a:t>correct on leaks it never saw</a:t>
            </a:r>
            <a:endParaRPr lang="en-US" sz="1300" dirty="0"/>
          </a:p>
        </p:txBody>
      </p:sp>
      <p:sp>
        <p:nvSpPr>
          <p:cNvPr id="10" name="Shape 8"/>
          <p:cNvSpPr/>
          <p:nvPr/>
        </p:nvSpPr>
        <p:spPr>
          <a:xfrm>
            <a:off x="685800" y="3474720"/>
            <a:ext cx="201168" cy="201168"/>
          </a:xfrm>
          <a:prstGeom prst="rect">
            <a:avLst/>
          </a:prstGeom>
          <a:solidFill>
            <a:srgbClr val="0E7C86"/>
          </a:solidFill>
          <a:ln/>
        </p:spPr>
      </p:sp>
      <p:sp>
        <p:nvSpPr>
          <p:cNvPr id="11" name="Text 9"/>
          <p:cNvSpPr/>
          <p:nvPr/>
        </p:nvSpPr>
        <p:spPr>
          <a:xfrm>
            <a:off x="1097280" y="3383280"/>
            <a:ext cx="10332720" cy="822960"/>
          </a:xfrm>
          <a:prstGeom prst="rect">
            <a:avLst/>
          </a:prstGeom>
          <a:noFill/>
          <a:ln/>
        </p:spPr>
        <p:txBody>
          <a:bodyPr wrap="square" rtlCol="0" anchor="t"/>
          <a:lstStyle/>
          <a:p>
            <a:pPr marL="0" indent="0">
              <a:buNone/>
            </a:pPr>
            <a:r>
              <a:rPr lang="en-US" sz="1500" dirty="0">
                <a:solidFill>
                  <a:srgbClr val="2C3E45"/>
                </a:solidFill>
                <a:latin typeface="Calibri" pitchFamily="34" charset="0"/>
                <a:ea typeface="Calibri" pitchFamily="34" charset="-122"/>
                <a:cs typeface="Calibri" pitchFamily="34" charset="-120"/>
              </a:rPr>
              <a:t>Measured on leaks the model never trained on - testing on unseen leaks makes the number trustworthy.</a:t>
            </a:r>
            <a:endParaRPr lang="en-US" sz="1500" dirty="0"/>
          </a:p>
        </p:txBody>
      </p:sp>
      <p:sp>
        <p:nvSpPr>
          <p:cNvPr id="12" name="Shape 10"/>
          <p:cNvSpPr/>
          <p:nvPr/>
        </p:nvSpPr>
        <p:spPr>
          <a:xfrm>
            <a:off x="685800" y="4224528"/>
            <a:ext cx="201168" cy="201168"/>
          </a:xfrm>
          <a:prstGeom prst="rect">
            <a:avLst/>
          </a:prstGeom>
          <a:solidFill>
            <a:srgbClr val="0E7C86"/>
          </a:solidFill>
          <a:ln/>
        </p:spPr>
      </p:sp>
      <p:sp>
        <p:nvSpPr>
          <p:cNvPr id="13" name="Text 11"/>
          <p:cNvSpPr/>
          <p:nvPr/>
        </p:nvSpPr>
        <p:spPr>
          <a:xfrm>
            <a:off x="1097280" y="4133088"/>
            <a:ext cx="10332720" cy="822960"/>
          </a:xfrm>
          <a:prstGeom prst="rect">
            <a:avLst/>
          </a:prstGeom>
          <a:noFill/>
          <a:ln/>
        </p:spPr>
        <p:txBody>
          <a:bodyPr wrap="square" rtlCol="0" anchor="t"/>
          <a:lstStyle/>
          <a:p>
            <a:pPr marL="0" indent="0">
              <a:buNone/>
            </a:pPr>
            <a:r>
              <a:rPr lang="en-US" sz="1500" dirty="0">
                <a:solidFill>
                  <a:srgbClr val="2C3E45"/>
                </a:solidFill>
                <a:latin typeface="Calibri" pitchFamily="34" charset="0"/>
                <a:ea typeface="Calibri" pitchFamily="34" charset="-122"/>
                <a:cs typeface="Calibri" pitchFamily="34" charset="-120"/>
              </a:rPr>
              <a:t>The few misses are the smallest leaks, which make the faintest pressure drops.</a:t>
            </a:r>
            <a:endParaRPr lang="en-US" sz="1500" dirty="0"/>
          </a:p>
        </p:txBody>
      </p:sp>
      <p:sp>
        <p:nvSpPr>
          <p:cNvPr id="14" name="Shape 12"/>
          <p:cNvSpPr/>
          <p:nvPr/>
        </p:nvSpPr>
        <p:spPr>
          <a:xfrm>
            <a:off x="685800" y="4974336"/>
            <a:ext cx="201168" cy="201168"/>
          </a:xfrm>
          <a:prstGeom prst="rect">
            <a:avLst/>
          </a:prstGeom>
          <a:solidFill>
            <a:srgbClr val="0E7C86"/>
          </a:solidFill>
          <a:ln/>
        </p:spPr>
      </p:sp>
      <p:sp>
        <p:nvSpPr>
          <p:cNvPr id="15" name="Text 13"/>
          <p:cNvSpPr/>
          <p:nvPr/>
        </p:nvSpPr>
        <p:spPr>
          <a:xfrm>
            <a:off x="1097280" y="4882896"/>
            <a:ext cx="10332720" cy="822960"/>
          </a:xfrm>
          <a:prstGeom prst="rect">
            <a:avLst/>
          </a:prstGeom>
          <a:noFill/>
          <a:ln/>
        </p:spPr>
        <p:txBody>
          <a:bodyPr wrap="square" rtlCol="0" anchor="t"/>
          <a:lstStyle/>
          <a:p>
            <a:pPr marL="0" indent="0">
              <a:buNone/>
            </a:pPr>
            <a:r>
              <a:rPr lang="en-US" sz="1500" dirty="0">
                <a:solidFill>
                  <a:srgbClr val="2C3E45"/>
                </a:solidFill>
                <a:latin typeface="Calibri" pitchFamily="34" charset="0"/>
                <a:ea typeface="Calibri" pitchFamily="34" charset="-122"/>
                <a:cs typeface="Calibri" pitchFamily="34" charset="-120"/>
              </a:rPr>
              <a:t>Not a fake 100% - sensor noise keeps the result realistic.</a:t>
            </a:r>
            <a:endParaRPr lang="en-US" sz="1500" dirty="0"/>
          </a:p>
        </p:txBody>
      </p:sp>
      <p:sp>
        <p:nvSpPr>
          <p:cNvPr id="16" name="Text 14"/>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7" name="Text 15"/>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WHAT I DID - RESULT</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Model comparison: why Random Forest</a:t>
            </a:r>
            <a:endParaRPr lang="en-US" sz="2500" dirty="0"/>
          </a:p>
        </p:txBody>
      </p:sp>
      <p:pic>
        <p:nvPicPr>
          <p:cNvPr id="7" name="Image 0" descr="/home/claude/img/comparison.png"/>
          <p:cNvPicPr>
            <a:picLocks noChangeAspect="1"/>
          </p:cNvPicPr>
          <p:nvPr/>
        </p:nvPicPr>
        <p:blipFill>
          <a:blip r:embed="rId3"/>
          <a:srcRect/>
          <a:stretch/>
        </p:blipFill>
        <p:spPr>
          <a:xfrm>
            <a:off x="6400800" y="1371600"/>
            <a:ext cx="5394960" cy="3657600"/>
          </a:xfrm>
          <a:prstGeom prst="rect">
            <a:avLst/>
          </a:prstGeom>
        </p:spPr>
      </p:pic>
      <p:sp>
        <p:nvSpPr>
          <p:cNvPr id="8" name="Shape 5"/>
          <p:cNvSpPr/>
          <p:nvPr/>
        </p:nvSpPr>
        <p:spPr>
          <a:xfrm>
            <a:off x="685800" y="1691640"/>
            <a:ext cx="201168" cy="201168"/>
          </a:xfrm>
          <a:prstGeom prst="rect">
            <a:avLst/>
          </a:prstGeom>
          <a:solidFill>
            <a:srgbClr val="0E7C86"/>
          </a:solidFill>
          <a:ln/>
        </p:spPr>
      </p:sp>
      <p:sp>
        <p:nvSpPr>
          <p:cNvPr id="9" name="Text 6"/>
          <p:cNvSpPr/>
          <p:nvPr/>
        </p:nvSpPr>
        <p:spPr>
          <a:xfrm>
            <a:off x="1097280" y="1600200"/>
            <a:ext cx="10332720" cy="822960"/>
          </a:xfrm>
          <a:prstGeom prst="rect">
            <a:avLst/>
          </a:prstGeom>
          <a:noFill/>
          <a:ln/>
        </p:spPr>
        <p:txBody>
          <a:bodyPr wrap="square" rtlCol="0" anchor="t"/>
          <a:lstStyle/>
          <a:p>
            <a:pPr marL="0" indent="0">
              <a:buNone/>
            </a:pPr>
            <a:r>
              <a:rPr lang="en-US" sz="1450" dirty="0">
                <a:solidFill>
                  <a:srgbClr val="2C3E45"/>
                </a:solidFill>
                <a:latin typeface="Calibri" pitchFamily="34" charset="0"/>
                <a:ea typeface="Calibri" pitchFamily="34" charset="-122"/>
                <a:cs typeface="Calibri" pitchFamily="34" charset="-120"/>
              </a:rPr>
              <a:t>Compared Random Forest with KNN and a Decision Tree on identical data.</a:t>
            </a:r>
            <a:endParaRPr lang="en-US" sz="1450" dirty="0"/>
          </a:p>
        </p:txBody>
      </p:sp>
      <p:sp>
        <p:nvSpPr>
          <p:cNvPr id="10" name="Shape 7"/>
          <p:cNvSpPr/>
          <p:nvPr/>
        </p:nvSpPr>
        <p:spPr>
          <a:xfrm>
            <a:off x="685800" y="2468880"/>
            <a:ext cx="201168" cy="201168"/>
          </a:xfrm>
          <a:prstGeom prst="rect">
            <a:avLst/>
          </a:prstGeom>
          <a:solidFill>
            <a:srgbClr val="0E7C86"/>
          </a:solidFill>
          <a:ln/>
        </p:spPr>
      </p:sp>
      <p:sp>
        <p:nvSpPr>
          <p:cNvPr id="11" name="Text 8"/>
          <p:cNvSpPr/>
          <p:nvPr/>
        </p:nvSpPr>
        <p:spPr>
          <a:xfrm>
            <a:off x="1097280" y="2377440"/>
            <a:ext cx="10332720" cy="822960"/>
          </a:xfrm>
          <a:prstGeom prst="rect">
            <a:avLst/>
          </a:prstGeom>
          <a:noFill/>
          <a:ln/>
        </p:spPr>
        <p:txBody>
          <a:bodyPr wrap="square" rtlCol="0" anchor="t"/>
          <a:lstStyle/>
          <a:p>
            <a:pPr marL="0" indent="0">
              <a:buNone/>
            </a:pPr>
            <a:r>
              <a:rPr lang="en-US" sz="1450" dirty="0">
                <a:solidFill>
                  <a:srgbClr val="2C3E45"/>
                </a:solidFill>
                <a:latin typeface="Calibri" pitchFamily="34" charset="0"/>
                <a:ea typeface="Calibri" pitchFamily="34" charset="-122"/>
                <a:cs typeface="Calibri" pitchFamily="34" charset="-120"/>
              </a:rPr>
              <a:t>KNN 98.5%, Decision Tree 94.9%, Random Forest 98.0% - all high, basically tied.</a:t>
            </a:r>
            <a:endParaRPr lang="en-US" sz="1450" dirty="0"/>
          </a:p>
        </p:txBody>
      </p:sp>
      <p:sp>
        <p:nvSpPr>
          <p:cNvPr id="12" name="Shape 9"/>
          <p:cNvSpPr/>
          <p:nvPr/>
        </p:nvSpPr>
        <p:spPr>
          <a:xfrm>
            <a:off x="685800" y="3246120"/>
            <a:ext cx="201168" cy="201168"/>
          </a:xfrm>
          <a:prstGeom prst="rect">
            <a:avLst/>
          </a:prstGeom>
          <a:solidFill>
            <a:srgbClr val="0E7C86"/>
          </a:solidFill>
          <a:ln/>
        </p:spPr>
      </p:sp>
      <p:sp>
        <p:nvSpPr>
          <p:cNvPr id="13" name="Text 10"/>
          <p:cNvSpPr/>
          <p:nvPr/>
        </p:nvSpPr>
        <p:spPr>
          <a:xfrm>
            <a:off x="1097280" y="3154680"/>
            <a:ext cx="10332720" cy="822960"/>
          </a:xfrm>
          <a:prstGeom prst="rect">
            <a:avLst/>
          </a:prstGeom>
          <a:noFill/>
          <a:ln/>
        </p:spPr>
        <p:txBody>
          <a:bodyPr wrap="square" rtlCol="0" anchor="t"/>
          <a:lstStyle/>
          <a:p>
            <a:pPr marL="0" indent="0">
              <a:buNone/>
            </a:pPr>
            <a:r>
              <a:rPr lang="en-US" sz="1450" dirty="0">
                <a:solidFill>
                  <a:srgbClr val="2C3E45"/>
                </a:solidFill>
                <a:latin typeface="Calibri" pitchFamily="34" charset="0"/>
                <a:ea typeface="Calibri" pitchFamily="34" charset="-122"/>
                <a:cs typeface="Calibri" pitchFamily="34" charset="-120"/>
              </a:rPr>
              <a:t>This shows detection is the easy part.</a:t>
            </a:r>
            <a:endParaRPr lang="en-US" sz="1450" dirty="0"/>
          </a:p>
        </p:txBody>
      </p:sp>
      <p:sp>
        <p:nvSpPr>
          <p:cNvPr id="14" name="Shape 11"/>
          <p:cNvSpPr/>
          <p:nvPr/>
        </p:nvSpPr>
        <p:spPr>
          <a:xfrm>
            <a:off x="685800" y="4023360"/>
            <a:ext cx="201168" cy="201168"/>
          </a:xfrm>
          <a:prstGeom prst="rect">
            <a:avLst/>
          </a:prstGeom>
          <a:solidFill>
            <a:srgbClr val="0E7C86"/>
          </a:solidFill>
          <a:ln/>
        </p:spPr>
      </p:sp>
      <p:sp>
        <p:nvSpPr>
          <p:cNvPr id="15" name="Text 12"/>
          <p:cNvSpPr/>
          <p:nvPr/>
        </p:nvSpPr>
        <p:spPr>
          <a:xfrm>
            <a:off x="1097280" y="3931920"/>
            <a:ext cx="10332720" cy="822960"/>
          </a:xfrm>
          <a:prstGeom prst="rect">
            <a:avLst/>
          </a:prstGeom>
          <a:noFill/>
          <a:ln/>
        </p:spPr>
        <p:txBody>
          <a:bodyPr wrap="square" rtlCol="0" anchor="t"/>
          <a:lstStyle/>
          <a:p>
            <a:pPr marL="0" indent="0">
              <a:buNone/>
            </a:pPr>
            <a:r>
              <a:rPr lang="en-US" sz="1450" dirty="0">
                <a:solidFill>
                  <a:srgbClr val="2C3E45"/>
                </a:solidFill>
                <a:latin typeface="Calibri" pitchFamily="34" charset="0"/>
                <a:ea typeface="Calibri" pitchFamily="34" charset="-122"/>
                <a:cs typeface="Calibri" pitchFamily="34" charset="-120"/>
              </a:rPr>
              <a:t>I keep Random Forest for its reliability on the harder localization step and with noise.</a:t>
            </a:r>
            <a:endParaRPr lang="en-US" sz="1450" dirty="0"/>
          </a:p>
        </p:txBody>
      </p:sp>
      <p:sp>
        <p:nvSpPr>
          <p:cNvPr id="16" name="Text 13"/>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7" name="Text 14"/>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SUMMARY</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What I have done so far</a:t>
            </a:r>
            <a:endParaRPr lang="en-US" sz="2500" dirty="0"/>
          </a:p>
        </p:txBody>
      </p:sp>
      <p:sp>
        <p:nvSpPr>
          <p:cNvPr id="7" name="Shape 5"/>
          <p:cNvSpPr/>
          <p:nvPr/>
        </p:nvSpPr>
        <p:spPr>
          <a:xfrm>
            <a:off x="685800" y="1417320"/>
            <a:ext cx="10789920" cy="694944"/>
          </a:xfrm>
          <a:prstGeom prst="roundRect">
            <a:avLst>
              <a:gd name="adj" fmla="val 7895"/>
            </a:avLst>
          </a:prstGeom>
          <a:solidFill>
            <a:srgbClr val="F4F9FA"/>
          </a:solidFill>
          <a:ln w="13970">
            <a:solidFill>
              <a:srgbClr val="2F8F5B"/>
            </a:solidFill>
            <a:prstDash val="solid"/>
          </a:ln>
        </p:spPr>
      </p:sp>
      <p:sp>
        <p:nvSpPr>
          <p:cNvPr id="8" name="Shape 6"/>
          <p:cNvSpPr/>
          <p:nvPr/>
        </p:nvSpPr>
        <p:spPr>
          <a:xfrm>
            <a:off x="868680" y="1600200"/>
            <a:ext cx="960120" cy="329184"/>
          </a:xfrm>
          <a:prstGeom prst="roundRect">
            <a:avLst>
              <a:gd name="adj" fmla="val 13889"/>
            </a:avLst>
          </a:prstGeom>
          <a:solidFill>
            <a:srgbClr val="2F8F5B"/>
          </a:solidFill>
          <a:ln/>
        </p:spPr>
      </p:sp>
      <p:sp>
        <p:nvSpPr>
          <p:cNvPr id="9" name="Text 7"/>
          <p:cNvSpPr/>
          <p:nvPr/>
        </p:nvSpPr>
        <p:spPr>
          <a:xfrm>
            <a:off x="868680" y="1600200"/>
            <a:ext cx="96012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10" name="Text 8"/>
          <p:cNvSpPr/>
          <p:nvPr/>
        </p:nvSpPr>
        <p:spPr>
          <a:xfrm>
            <a:off x="2057400" y="1417320"/>
            <a:ext cx="9235440" cy="694944"/>
          </a:xfrm>
          <a:prstGeom prst="rect">
            <a:avLst/>
          </a:prstGeom>
          <a:noFill/>
          <a:ln/>
        </p:spPr>
        <p:txBody>
          <a:bodyPr wrap="square" rtlCol="0" anchor="ctr"/>
          <a:lstStyle/>
          <a:p>
            <a:pPr marL="0" indent="0">
              <a:buNone/>
            </a:pPr>
            <a:r>
              <a:rPr lang="en-US" sz="1400" dirty="0">
                <a:solidFill>
                  <a:srgbClr val="0B2A3B"/>
                </a:solidFill>
                <a:latin typeface="Calibri" pitchFamily="34" charset="0"/>
                <a:ea typeface="Calibri" pitchFamily="34" charset="-122"/>
                <a:cs typeface="Calibri" pitchFamily="34" charset="-120"/>
              </a:rPr>
              <a:t>Set up the environment and loaded the Net3 network</a:t>
            </a:r>
            <a:endParaRPr lang="en-US" sz="1400" dirty="0"/>
          </a:p>
        </p:txBody>
      </p:sp>
      <p:sp>
        <p:nvSpPr>
          <p:cNvPr id="11" name="Shape 9"/>
          <p:cNvSpPr/>
          <p:nvPr/>
        </p:nvSpPr>
        <p:spPr>
          <a:xfrm>
            <a:off x="685800" y="2203704"/>
            <a:ext cx="10789920" cy="694944"/>
          </a:xfrm>
          <a:prstGeom prst="roundRect">
            <a:avLst>
              <a:gd name="adj" fmla="val 7895"/>
            </a:avLst>
          </a:prstGeom>
          <a:solidFill>
            <a:srgbClr val="F4F9FA"/>
          </a:solidFill>
          <a:ln w="13970">
            <a:solidFill>
              <a:srgbClr val="2F8F5B"/>
            </a:solidFill>
            <a:prstDash val="solid"/>
          </a:ln>
        </p:spPr>
      </p:sp>
      <p:sp>
        <p:nvSpPr>
          <p:cNvPr id="12" name="Shape 10"/>
          <p:cNvSpPr/>
          <p:nvPr/>
        </p:nvSpPr>
        <p:spPr>
          <a:xfrm>
            <a:off x="868680" y="2386584"/>
            <a:ext cx="960120" cy="329184"/>
          </a:xfrm>
          <a:prstGeom prst="roundRect">
            <a:avLst>
              <a:gd name="adj" fmla="val 13889"/>
            </a:avLst>
          </a:prstGeom>
          <a:solidFill>
            <a:srgbClr val="2F8F5B"/>
          </a:solidFill>
          <a:ln/>
        </p:spPr>
      </p:sp>
      <p:sp>
        <p:nvSpPr>
          <p:cNvPr id="13" name="Text 11"/>
          <p:cNvSpPr/>
          <p:nvPr/>
        </p:nvSpPr>
        <p:spPr>
          <a:xfrm>
            <a:off x="868680" y="2386584"/>
            <a:ext cx="96012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14" name="Text 12"/>
          <p:cNvSpPr/>
          <p:nvPr/>
        </p:nvSpPr>
        <p:spPr>
          <a:xfrm>
            <a:off x="2057400" y="2203704"/>
            <a:ext cx="9235440" cy="694944"/>
          </a:xfrm>
          <a:prstGeom prst="rect">
            <a:avLst/>
          </a:prstGeom>
          <a:noFill/>
          <a:ln/>
        </p:spPr>
        <p:txBody>
          <a:bodyPr wrap="square" rtlCol="0" anchor="ctr"/>
          <a:lstStyle/>
          <a:p>
            <a:pPr marL="0" indent="0">
              <a:buNone/>
            </a:pPr>
            <a:r>
              <a:rPr lang="en-US" sz="1400" dirty="0">
                <a:solidFill>
                  <a:srgbClr val="0B2A3B"/>
                </a:solidFill>
                <a:latin typeface="Calibri" pitchFamily="34" charset="0"/>
                <a:ea typeface="Calibri" pitchFamily="34" charset="-122"/>
                <a:cs typeface="Calibri" pitchFamily="34" charset="-120"/>
              </a:rPr>
              <a:t>Generated my own labelled leak dataset by simulation (588 rows)</a:t>
            </a:r>
            <a:endParaRPr lang="en-US" sz="1400" dirty="0"/>
          </a:p>
        </p:txBody>
      </p:sp>
      <p:sp>
        <p:nvSpPr>
          <p:cNvPr id="15" name="Shape 13"/>
          <p:cNvSpPr/>
          <p:nvPr/>
        </p:nvSpPr>
        <p:spPr>
          <a:xfrm>
            <a:off x="685800" y="2990088"/>
            <a:ext cx="10789920" cy="694944"/>
          </a:xfrm>
          <a:prstGeom prst="roundRect">
            <a:avLst>
              <a:gd name="adj" fmla="val 7895"/>
            </a:avLst>
          </a:prstGeom>
          <a:solidFill>
            <a:srgbClr val="F4F9FA"/>
          </a:solidFill>
          <a:ln w="13970">
            <a:solidFill>
              <a:srgbClr val="2F8F5B"/>
            </a:solidFill>
            <a:prstDash val="solid"/>
          </a:ln>
        </p:spPr>
      </p:sp>
      <p:sp>
        <p:nvSpPr>
          <p:cNvPr id="16" name="Shape 14"/>
          <p:cNvSpPr/>
          <p:nvPr/>
        </p:nvSpPr>
        <p:spPr>
          <a:xfrm>
            <a:off x="868680" y="3172968"/>
            <a:ext cx="960120" cy="329184"/>
          </a:xfrm>
          <a:prstGeom prst="roundRect">
            <a:avLst>
              <a:gd name="adj" fmla="val 13889"/>
            </a:avLst>
          </a:prstGeom>
          <a:solidFill>
            <a:srgbClr val="2F8F5B"/>
          </a:solidFill>
          <a:ln/>
        </p:spPr>
      </p:sp>
      <p:sp>
        <p:nvSpPr>
          <p:cNvPr id="17" name="Text 15"/>
          <p:cNvSpPr/>
          <p:nvPr/>
        </p:nvSpPr>
        <p:spPr>
          <a:xfrm>
            <a:off x="868680" y="3172968"/>
            <a:ext cx="96012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18" name="Text 16"/>
          <p:cNvSpPr/>
          <p:nvPr/>
        </p:nvSpPr>
        <p:spPr>
          <a:xfrm>
            <a:off x="2057400" y="2990088"/>
            <a:ext cx="9235440" cy="694944"/>
          </a:xfrm>
          <a:prstGeom prst="rect">
            <a:avLst/>
          </a:prstGeom>
          <a:noFill/>
          <a:ln/>
        </p:spPr>
        <p:txBody>
          <a:bodyPr wrap="square" rtlCol="0" anchor="ctr"/>
          <a:lstStyle/>
          <a:p>
            <a:pPr marL="0" indent="0">
              <a:buNone/>
            </a:pPr>
            <a:r>
              <a:rPr lang="en-US" sz="1400" dirty="0">
                <a:solidFill>
                  <a:srgbClr val="0B2A3B"/>
                </a:solidFill>
                <a:latin typeface="Calibri" pitchFamily="34" charset="0"/>
                <a:ea typeface="Calibri" pitchFamily="34" charset="-122"/>
                <a:cs typeface="Calibri" pitchFamily="34" charset="-120"/>
              </a:rPr>
              <a:t>Engineered the 'drop from normal' feature</a:t>
            </a:r>
            <a:endParaRPr lang="en-US" sz="1400" dirty="0"/>
          </a:p>
        </p:txBody>
      </p:sp>
      <p:sp>
        <p:nvSpPr>
          <p:cNvPr id="19" name="Shape 17"/>
          <p:cNvSpPr/>
          <p:nvPr/>
        </p:nvSpPr>
        <p:spPr>
          <a:xfrm>
            <a:off x="685800" y="3776472"/>
            <a:ext cx="10789920" cy="694944"/>
          </a:xfrm>
          <a:prstGeom prst="roundRect">
            <a:avLst>
              <a:gd name="adj" fmla="val 7895"/>
            </a:avLst>
          </a:prstGeom>
          <a:solidFill>
            <a:srgbClr val="F4F9FA"/>
          </a:solidFill>
          <a:ln w="13970">
            <a:solidFill>
              <a:srgbClr val="2F8F5B"/>
            </a:solidFill>
            <a:prstDash val="solid"/>
          </a:ln>
        </p:spPr>
      </p:sp>
      <p:sp>
        <p:nvSpPr>
          <p:cNvPr id="20" name="Shape 18"/>
          <p:cNvSpPr/>
          <p:nvPr/>
        </p:nvSpPr>
        <p:spPr>
          <a:xfrm>
            <a:off x="868680" y="3959352"/>
            <a:ext cx="960120" cy="329184"/>
          </a:xfrm>
          <a:prstGeom prst="roundRect">
            <a:avLst>
              <a:gd name="adj" fmla="val 13889"/>
            </a:avLst>
          </a:prstGeom>
          <a:solidFill>
            <a:srgbClr val="2F8F5B"/>
          </a:solidFill>
          <a:ln/>
        </p:spPr>
      </p:sp>
      <p:sp>
        <p:nvSpPr>
          <p:cNvPr id="21" name="Text 19"/>
          <p:cNvSpPr/>
          <p:nvPr/>
        </p:nvSpPr>
        <p:spPr>
          <a:xfrm>
            <a:off x="868680" y="3959352"/>
            <a:ext cx="96012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22" name="Text 20"/>
          <p:cNvSpPr/>
          <p:nvPr/>
        </p:nvSpPr>
        <p:spPr>
          <a:xfrm>
            <a:off x="2057400" y="3776472"/>
            <a:ext cx="9235440" cy="694944"/>
          </a:xfrm>
          <a:prstGeom prst="rect">
            <a:avLst/>
          </a:prstGeom>
          <a:noFill/>
          <a:ln/>
        </p:spPr>
        <p:txBody>
          <a:bodyPr wrap="square" rtlCol="0" anchor="ctr"/>
          <a:lstStyle/>
          <a:p>
            <a:pPr marL="0" indent="0">
              <a:buNone/>
            </a:pPr>
            <a:r>
              <a:rPr lang="en-US" sz="1400" dirty="0">
                <a:solidFill>
                  <a:srgbClr val="0B2A3B"/>
                </a:solidFill>
                <a:latin typeface="Calibri" pitchFamily="34" charset="0"/>
                <a:ea typeface="Calibri" pitchFamily="34" charset="-122"/>
                <a:cs typeface="Calibri" pitchFamily="34" charset="-120"/>
              </a:rPr>
              <a:t>Trained the Random Forest detection model</a:t>
            </a:r>
            <a:endParaRPr lang="en-US" sz="1400" dirty="0"/>
          </a:p>
        </p:txBody>
      </p:sp>
      <p:sp>
        <p:nvSpPr>
          <p:cNvPr id="23" name="Shape 21"/>
          <p:cNvSpPr/>
          <p:nvPr/>
        </p:nvSpPr>
        <p:spPr>
          <a:xfrm>
            <a:off x="685800" y="4562856"/>
            <a:ext cx="10789920" cy="694944"/>
          </a:xfrm>
          <a:prstGeom prst="roundRect">
            <a:avLst>
              <a:gd name="adj" fmla="val 7895"/>
            </a:avLst>
          </a:prstGeom>
          <a:solidFill>
            <a:srgbClr val="F4F9FA"/>
          </a:solidFill>
          <a:ln w="13970">
            <a:solidFill>
              <a:srgbClr val="2F8F5B"/>
            </a:solidFill>
            <a:prstDash val="solid"/>
          </a:ln>
        </p:spPr>
      </p:sp>
      <p:sp>
        <p:nvSpPr>
          <p:cNvPr id="24" name="Shape 22"/>
          <p:cNvSpPr/>
          <p:nvPr/>
        </p:nvSpPr>
        <p:spPr>
          <a:xfrm>
            <a:off x="868680" y="4745736"/>
            <a:ext cx="960120" cy="329184"/>
          </a:xfrm>
          <a:prstGeom prst="roundRect">
            <a:avLst>
              <a:gd name="adj" fmla="val 13889"/>
            </a:avLst>
          </a:prstGeom>
          <a:solidFill>
            <a:srgbClr val="2F8F5B"/>
          </a:solidFill>
          <a:ln/>
        </p:spPr>
      </p:sp>
      <p:sp>
        <p:nvSpPr>
          <p:cNvPr id="25" name="Text 23"/>
          <p:cNvSpPr/>
          <p:nvPr/>
        </p:nvSpPr>
        <p:spPr>
          <a:xfrm>
            <a:off x="868680" y="4745736"/>
            <a:ext cx="96012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26" name="Text 24"/>
          <p:cNvSpPr/>
          <p:nvPr/>
        </p:nvSpPr>
        <p:spPr>
          <a:xfrm>
            <a:off x="2057400" y="4562856"/>
            <a:ext cx="9235440" cy="694944"/>
          </a:xfrm>
          <a:prstGeom prst="rect">
            <a:avLst/>
          </a:prstGeom>
          <a:noFill/>
          <a:ln/>
        </p:spPr>
        <p:txBody>
          <a:bodyPr wrap="square" rtlCol="0" anchor="ctr"/>
          <a:lstStyle/>
          <a:p>
            <a:pPr marL="0" indent="0">
              <a:buNone/>
            </a:pPr>
            <a:r>
              <a:rPr lang="en-US" sz="1400" dirty="0">
                <a:solidFill>
                  <a:srgbClr val="0B2A3B"/>
                </a:solidFill>
                <a:latin typeface="Calibri" pitchFamily="34" charset="0"/>
                <a:ea typeface="Calibri" pitchFamily="34" charset="-122"/>
                <a:cs typeface="Calibri" pitchFamily="34" charset="-120"/>
              </a:rPr>
              <a:t>Measured detection accuracy (~98% on unseen leaks)</a:t>
            </a:r>
            <a:endParaRPr lang="en-US" sz="1400" dirty="0"/>
          </a:p>
        </p:txBody>
      </p:sp>
      <p:sp>
        <p:nvSpPr>
          <p:cNvPr id="27" name="Shape 25"/>
          <p:cNvSpPr/>
          <p:nvPr/>
        </p:nvSpPr>
        <p:spPr>
          <a:xfrm>
            <a:off x="685800" y="5349240"/>
            <a:ext cx="10789920" cy="694944"/>
          </a:xfrm>
          <a:prstGeom prst="roundRect">
            <a:avLst>
              <a:gd name="adj" fmla="val 7895"/>
            </a:avLst>
          </a:prstGeom>
          <a:solidFill>
            <a:srgbClr val="F4F9FA"/>
          </a:solidFill>
          <a:ln w="13970">
            <a:solidFill>
              <a:srgbClr val="2F8F5B"/>
            </a:solidFill>
            <a:prstDash val="solid"/>
          </a:ln>
        </p:spPr>
      </p:sp>
      <p:sp>
        <p:nvSpPr>
          <p:cNvPr id="28" name="Shape 26"/>
          <p:cNvSpPr/>
          <p:nvPr/>
        </p:nvSpPr>
        <p:spPr>
          <a:xfrm>
            <a:off x="868680" y="5532120"/>
            <a:ext cx="960120" cy="329184"/>
          </a:xfrm>
          <a:prstGeom prst="roundRect">
            <a:avLst>
              <a:gd name="adj" fmla="val 13889"/>
            </a:avLst>
          </a:prstGeom>
          <a:solidFill>
            <a:srgbClr val="2F8F5B"/>
          </a:solidFill>
          <a:ln/>
        </p:spPr>
      </p:sp>
      <p:sp>
        <p:nvSpPr>
          <p:cNvPr id="29" name="Text 27"/>
          <p:cNvSpPr/>
          <p:nvPr/>
        </p:nvSpPr>
        <p:spPr>
          <a:xfrm>
            <a:off x="868680" y="5532120"/>
            <a:ext cx="960120" cy="329184"/>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DONE</a:t>
            </a:r>
            <a:endParaRPr lang="en-US" sz="1050" dirty="0"/>
          </a:p>
        </p:txBody>
      </p:sp>
      <p:sp>
        <p:nvSpPr>
          <p:cNvPr id="30" name="Text 28"/>
          <p:cNvSpPr/>
          <p:nvPr/>
        </p:nvSpPr>
        <p:spPr>
          <a:xfrm>
            <a:off x="2057400" y="5349240"/>
            <a:ext cx="9235440" cy="694944"/>
          </a:xfrm>
          <a:prstGeom prst="rect">
            <a:avLst/>
          </a:prstGeom>
          <a:noFill/>
          <a:ln/>
        </p:spPr>
        <p:txBody>
          <a:bodyPr wrap="square" rtlCol="0" anchor="ctr"/>
          <a:lstStyle/>
          <a:p>
            <a:pPr marL="0" indent="0">
              <a:buNone/>
            </a:pPr>
            <a:r>
              <a:rPr lang="en-US" sz="1400" dirty="0">
                <a:solidFill>
                  <a:srgbClr val="0B2A3B"/>
                </a:solidFill>
                <a:latin typeface="Calibri" pitchFamily="34" charset="0"/>
                <a:ea typeface="Calibri" pitchFamily="34" charset="-122"/>
                <a:cs typeface="Calibri" pitchFamily="34" charset="-120"/>
              </a:rPr>
              <a:t>Compared models (KNN, Decision Tree, Random Forest) to justify Random Forest</a:t>
            </a:r>
            <a:endParaRPr lang="en-US" sz="1400" dirty="0"/>
          </a:p>
        </p:txBody>
      </p:sp>
      <p:sp>
        <p:nvSpPr>
          <p:cNvPr id="31" name="Text 29"/>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32" name="Text 30"/>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WHAT IS LEFT</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What I have to do next</a:t>
            </a:r>
            <a:endParaRPr lang="en-US" sz="2500" dirty="0"/>
          </a:p>
        </p:txBody>
      </p:sp>
      <p:sp>
        <p:nvSpPr>
          <p:cNvPr id="7" name="Shape 5"/>
          <p:cNvSpPr/>
          <p:nvPr/>
        </p:nvSpPr>
        <p:spPr>
          <a:xfrm>
            <a:off x="685800" y="1463040"/>
            <a:ext cx="10789920" cy="841248"/>
          </a:xfrm>
          <a:prstGeom prst="roundRect">
            <a:avLst>
              <a:gd name="adj" fmla="val 6522"/>
            </a:avLst>
          </a:prstGeom>
          <a:solidFill>
            <a:srgbClr val="FFFFFF"/>
          </a:solidFill>
          <a:ln w="15240">
            <a:solidFill>
              <a:srgbClr val="C8791A"/>
            </a:solidFill>
            <a:prstDash val="solid"/>
          </a:ln>
        </p:spPr>
      </p:sp>
      <p:sp>
        <p:nvSpPr>
          <p:cNvPr id="8" name="Shape 6"/>
          <p:cNvSpPr/>
          <p:nvPr/>
        </p:nvSpPr>
        <p:spPr>
          <a:xfrm>
            <a:off x="868680" y="1664208"/>
            <a:ext cx="457200" cy="457200"/>
          </a:xfrm>
          <a:prstGeom prst="roundRect">
            <a:avLst>
              <a:gd name="adj" fmla="val 12000"/>
            </a:avLst>
          </a:prstGeom>
          <a:solidFill>
            <a:srgbClr val="C8791A"/>
          </a:solidFill>
          <a:ln/>
        </p:spPr>
      </p:sp>
      <p:sp>
        <p:nvSpPr>
          <p:cNvPr id="9" name="Text 7"/>
          <p:cNvSpPr/>
          <p:nvPr/>
        </p:nvSpPr>
        <p:spPr>
          <a:xfrm>
            <a:off x="868680" y="1664208"/>
            <a:ext cx="457200" cy="45720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1</a:t>
            </a:r>
            <a:endParaRPr lang="en-US" sz="1700" dirty="0"/>
          </a:p>
        </p:txBody>
      </p:sp>
      <p:sp>
        <p:nvSpPr>
          <p:cNvPr id="10" name="Text 8"/>
          <p:cNvSpPr/>
          <p:nvPr/>
        </p:nvSpPr>
        <p:spPr>
          <a:xfrm>
            <a:off x="1508760" y="1463040"/>
            <a:ext cx="9784080" cy="841248"/>
          </a:xfrm>
          <a:prstGeom prst="rect">
            <a:avLst/>
          </a:prstGeom>
          <a:noFill/>
          <a:ln/>
        </p:spPr>
        <p:txBody>
          <a:bodyPr wrap="square" rtlCol="0" anchor="ctr"/>
          <a:lstStyle/>
          <a:p>
            <a:pPr marL="0" indent="0">
              <a:buNone/>
            </a:pPr>
            <a:r>
              <a:rPr lang="en-US" sz="1450" dirty="0">
                <a:solidFill>
                  <a:srgbClr val="2C3E45"/>
                </a:solidFill>
                <a:latin typeface="Calibri" pitchFamily="34" charset="0"/>
                <a:ea typeface="Calibri" pitchFamily="34" charset="-122"/>
                <a:cs typeface="Calibri" pitchFamily="34" charset="-120"/>
              </a:rPr>
              <a:t>Build the localization model - find WHICH AREA the leak is in (e.g. West / East)</a:t>
            </a:r>
            <a:endParaRPr lang="en-US" sz="1450" dirty="0"/>
          </a:p>
        </p:txBody>
      </p:sp>
      <p:sp>
        <p:nvSpPr>
          <p:cNvPr id="11" name="Shape 9"/>
          <p:cNvSpPr/>
          <p:nvPr/>
        </p:nvSpPr>
        <p:spPr>
          <a:xfrm>
            <a:off x="685800" y="2395728"/>
            <a:ext cx="10789920" cy="841248"/>
          </a:xfrm>
          <a:prstGeom prst="roundRect">
            <a:avLst>
              <a:gd name="adj" fmla="val 6522"/>
            </a:avLst>
          </a:prstGeom>
          <a:solidFill>
            <a:srgbClr val="FFFFFF"/>
          </a:solidFill>
          <a:ln w="15240">
            <a:solidFill>
              <a:srgbClr val="C8791A"/>
            </a:solidFill>
            <a:prstDash val="solid"/>
          </a:ln>
        </p:spPr>
      </p:sp>
      <p:sp>
        <p:nvSpPr>
          <p:cNvPr id="12" name="Shape 10"/>
          <p:cNvSpPr/>
          <p:nvPr/>
        </p:nvSpPr>
        <p:spPr>
          <a:xfrm>
            <a:off x="868680" y="2596896"/>
            <a:ext cx="457200" cy="457200"/>
          </a:xfrm>
          <a:prstGeom prst="roundRect">
            <a:avLst>
              <a:gd name="adj" fmla="val 12000"/>
            </a:avLst>
          </a:prstGeom>
          <a:solidFill>
            <a:srgbClr val="C8791A"/>
          </a:solidFill>
          <a:ln/>
        </p:spPr>
      </p:sp>
      <p:sp>
        <p:nvSpPr>
          <p:cNvPr id="13" name="Text 11"/>
          <p:cNvSpPr/>
          <p:nvPr/>
        </p:nvSpPr>
        <p:spPr>
          <a:xfrm>
            <a:off x="868680" y="2596896"/>
            <a:ext cx="457200" cy="45720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2</a:t>
            </a:r>
            <a:endParaRPr lang="en-US" sz="1700" dirty="0"/>
          </a:p>
        </p:txBody>
      </p:sp>
      <p:sp>
        <p:nvSpPr>
          <p:cNvPr id="14" name="Text 12"/>
          <p:cNvSpPr/>
          <p:nvPr/>
        </p:nvSpPr>
        <p:spPr>
          <a:xfrm>
            <a:off x="1508760" y="2395728"/>
            <a:ext cx="9784080" cy="841248"/>
          </a:xfrm>
          <a:prstGeom prst="rect">
            <a:avLst/>
          </a:prstGeom>
          <a:noFill/>
          <a:ln/>
        </p:spPr>
        <p:txBody>
          <a:bodyPr wrap="square" rtlCol="0" anchor="ctr"/>
          <a:lstStyle/>
          <a:p>
            <a:pPr marL="0" indent="0">
              <a:buNone/>
            </a:pPr>
            <a:r>
              <a:rPr lang="en-US" sz="1450" dirty="0">
                <a:solidFill>
                  <a:srgbClr val="2C3E45"/>
                </a:solidFill>
                <a:latin typeface="Calibri" pitchFamily="34" charset="0"/>
                <a:ea typeface="Calibri" pitchFamily="34" charset="-122"/>
                <a:cs typeface="Calibri" pitchFamily="34" charset="-120"/>
              </a:rPr>
              <a:t>Add the response step - nearest crew and shortest route (a calculation, not ML)</a:t>
            </a:r>
            <a:endParaRPr lang="en-US" sz="1450" dirty="0"/>
          </a:p>
        </p:txBody>
      </p:sp>
      <p:sp>
        <p:nvSpPr>
          <p:cNvPr id="15" name="Shape 13"/>
          <p:cNvSpPr/>
          <p:nvPr/>
        </p:nvSpPr>
        <p:spPr>
          <a:xfrm>
            <a:off x="685800" y="3328416"/>
            <a:ext cx="10789920" cy="841248"/>
          </a:xfrm>
          <a:prstGeom prst="roundRect">
            <a:avLst>
              <a:gd name="adj" fmla="val 6522"/>
            </a:avLst>
          </a:prstGeom>
          <a:solidFill>
            <a:srgbClr val="FFFFFF"/>
          </a:solidFill>
          <a:ln w="15240">
            <a:solidFill>
              <a:srgbClr val="C8791A"/>
            </a:solidFill>
            <a:prstDash val="solid"/>
          </a:ln>
        </p:spPr>
      </p:sp>
      <p:sp>
        <p:nvSpPr>
          <p:cNvPr id="16" name="Shape 14"/>
          <p:cNvSpPr/>
          <p:nvPr/>
        </p:nvSpPr>
        <p:spPr>
          <a:xfrm>
            <a:off x="868680" y="3529584"/>
            <a:ext cx="457200" cy="457200"/>
          </a:xfrm>
          <a:prstGeom prst="roundRect">
            <a:avLst>
              <a:gd name="adj" fmla="val 12000"/>
            </a:avLst>
          </a:prstGeom>
          <a:solidFill>
            <a:srgbClr val="C8791A"/>
          </a:solidFill>
          <a:ln/>
        </p:spPr>
      </p:sp>
      <p:sp>
        <p:nvSpPr>
          <p:cNvPr id="17" name="Text 15"/>
          <p:cNvSpPr/>
          <p:nvPr/>
        </p:nvSpPr>
        <p:spPr>
          <a:xfrm>
            <a:off x="868680" y="3529584"/>
            <a:ext cx="457200" cy="45720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3</a:t>
            </a:r>
            <a:endParaRPr lang="en-US" sz="1700" dirty="0"/>
          </a:p>
        </p:txBody>
      </p:sp>
      <p:sp>
        <p:nvSpPr>
          <p:cNvPr id="18" name="Text 16"/>
          <p:cNvSpPr/>
          <p:nvPr/>
        </p:nvSpPr>
        <p:spPr>
          <a:xfrm>
            <a:off x="1508760" y="3328416"/>
            <a:ext cx="9784080" cy="841248"/>
          </a:xfrm>
          <a:prstGeom prst="rect">
            <a:avLst/>
          </a:prstGeom>
          <a:noFill/>
          <a:ln/>
        </p:spPr>
        <p:txBody>
          <a:bodyPr wrap="square" rtlCol="0" anchor="ctr"/>
          <a:lstStyle/>
          <a:p>
            <a:pPr marL="0" indent="0">
              <a:buNone/>
            </a:pPr>
            <a:r>
              <a:rPr lang="en-US" sz="1450" dirty="0">
                <a:solidFill>
                  <a:srgbClr val="2C3E45"/>
                </a:solidFill>
                <a:latin typeface="Calibri" pitchFamily="34" charset="0"/>
                <a:ea typeface="Calibri" pitchFamily="34" charset="-122"/>
                <a:cs typeface="Calibri" pitchFamily="34" charset="-120"/>
              </a:rPr>
              <a:t>Integrate detect -&gt; localize -&gt; respond into one pipeline</a:t>
            </a:r>
            <a:endParaRPr lang="en-US" sz="1450" dirty="0"/>
          </a:p>
        </p:txBody>
      </p:sp>
      <p:sp>
        <p:nvSpPr>
          <p:cNvPr id="19" name="Shape 17"/>
          <p:cNvSpPr/>
          <p:nvPr/>
        </p:nvSpPr>
        <p:spPr>
          <a:xfrm>
            <a:off x="685800" y="4261104"/>
            <a:ext cx="10789920" cy="841248"/>
          </a:xfrm>
          <a:prstGeom prst="roundRect">
            <a:avLst>
              <a:gd name="adj" fmla="val 6522"/>
            </a:avLst>
          </a:prstGeom>
          <a:solidFill>
            <a:srgbClr val="FFFFFF"/>
          </a:solidFill>
          <a:ln w="15240">
            <a:solidFill>
              <a:srgbClr val="C8791A"/>
            </a:solidFill>
            <a:prstDash val="solid"/>
          </a:ln>
        </p:spPr>
      </p:sp>
      <p:sp>
        <p:nvSpPr>
          <p:cNvPr id="20" name="Shape 18"/>
          <p:cNvSpPr/>
          <p:nvPr/>
        </p:nvSpPr>
        <p:spPr>
          <a:xfrm>
            <a:off x="868680" y="4462272"/>
            <a:ext cx="457200" cy="457200"/>
          </a:xfrm>
          <a:prstGeom prst="roundRect">
            <a:avLst>
              <a:gd name="adj" fmla="val 12000"/>
            </a:avLst>
          </a:prstGeom>
          <a:solidFill>
            <a:srgbClr val="C8791A"/>
          </a:solidFill>
          <a:ln/>
        </p:spPr>
      </p:sp>
      <p:sp>
        <p:nvSpPr>
          <p:cNvPr id="21" name="Text 19"/>
          <p:cNvSpPr/>
          <p:nvPr/>
        </p:nvSpPr>
        <p:spPr>
          <a:xfrm>
            <a:off x="868680" y="4462272"/>
            <a:ext cx="457200" cy="45720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4</a:t>
            </a:r>
            <a:endParaRPr lang="en-US" sz="1700" dirty="0"/>
          </a:p>
        </p:txBody>
      </p:sp>
      <p:sp>
        <p:nvSpPr>
          <p:cNvPr id="22" name="Text 20"/>
          <p:cNvSpPr/>
          <p:nvPr/>
        </p:nvSpPr>
        <p:spPr>
          <a:xfrm>
            <a:off x="1508760" y="4261104"/>
            <a:ext cx="9784080" cy="841248"/>
          </a:xfrm>
          <a:prstGeom prst="rect">
            <a:avLst/>
          </a:prstGeom>
          <a:noFill/>
          <a:ln/>
        </p:spPr>
        <p:txBody>
          <a:bodyPr wrap="square" rtlCol="0" anchor="ctr"/>
          <a:lstStyle/>
          <a:p>
            <a:pPr marL="0" indent="0">
              <a:buNone/>
            </a:pPr>
            <a:r>
              <a:rPr lang="en-US" sz="1450" dirty="0">
                <a:solidFill>
                  <a:srgbClr val="2C3E45"/>
                </a:solidFill>
                <a:latin typeface="Calibri" pitchFamily="34" charset="0"/>
                <a:ea typeface="Calibri" pitchFamily="34" charset="-122"/>
                <a:cs typeface="Calibri" pitchFamily="34" charset="-120"/>
              </a:rPr>
              <a:t>Validate the method on a real public dataset to confirm it works beyond simulation</a:t>
            </a:r>
            <a:endParaRPr lang="en-US" sz="1450" dirty="0"/>
          </a:p>
        </p:txBody>
      </p:sp>
      <p:sp>
        <p:nvSpPr>
          <p:cNvPr id="23" name="Shape 21"/>
          <p:cNvSpPr/>
          <p:nvPr/>
        </p:nvSpPr>
        <p:spPr>
          <a:xfrm>
            <a:off x="685800" y="5193792"/>
            <a:ext cx="10789920" cy="841248"/>
          </a:xfrm>
          <a:prstGeom prst="roundRect">
            <a:avLst>
              <a:gd name="adj" fmla="val 6522"/>
            </a:avLst>
          </a:prstGeom>
          <a:solidFill>
            <a:srgbClr val="FFFFFF"/>
          </a:solidFill>
          <a:ln w="15240">
            <a:solidFill>
              <a:srgbClr val="C8791A"/>
            </a:solidFill>
            <a:prstDash val="solid"/>
          </a:ln>
        </p:spPr>
      </p:sp>
      <p:sp>
        <p:nvSpPr>
          <p:cNvPr id="24" name="Shape 22"/>
          <p:cNvSpPr/>
          <p:nvPr/>
        </p:nvSpPr>
        <p:spPr>
          <a:xfrm>
            <a:off x="868680" y="5394960"/>
            <a:ext cx="457200" cy="457200"/>
          </a:xfrm>
          <a:prstGeom prst="roundRect">
            <a:avLst>
              <a:gd name="adj" fmla="val 12000"/>
            </a:avLst>
          </a:prstGeom>
          <a:solidFill>
            <a:srgbClr val="C8791A"/>
          </a:solidFill>
          <a:ln/>
        </p:spPr>
      </p:sp>
      <p:sp>
        <p:nvSpPr>
          <p:cNvPr id="25" name="Text 23"/>
          <p:cNvSpPr/>
          <p:nvPr/>
        </p:nvSpPr>
        <p:spPr>
          <a:xfrm>
            <a:off x="868680" y="5394960"/>
            <a:ext cx="457200" cy="457200"/>
          </a:xfrm>
          <a:prstGeom prst="rect">
            <a:avLst/>
          </a:prstGeom>
          <a:noFill/>
          <a:ln/>
        </p:spPr>
        <p:txBody>
          <a:bodyPr wrap="square"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5</a:t>
            </a:r>
            <a:endParaRPr lang="en-US" sz="1700" dirty="0"/>
          </a:p>
        </p:txBody>
      </p:sp>
      <p:sp>
        <p:nvSpPr>
          <p:cNvPr id="26" name="Text 24"/>
          <p:cNvSpPr/>
          <p:nvPr/>
        </p:nvSpPr>
        <p:spPr>
          <a:xfrm>
            <a:off x="1508760" y="5193792"/>
            <a:ext cx="9784080" cy="841248"/>
          </a:xfrm>
          <a:prstGeom prst="rect">
            <a:avLst/>
          </a:prstGeom>
          <a:noFill/>
          <a:ln/>
        </p:spPr>
        <p:txBody>
          <a:bodyPr wrap="square" rtlCol="0" anchor="ctr"/>
          <a:lstStyle/>
          <a:p>
            <a:pPr marL="0" indent="0">
              <a:buNone/>
            </a:pPr>
            <a:r>
              <a:rPr lang="en-US" sz="1450" dirty="0">
                <a:solidFill>
                  <a:srgbClr val="2C3E45"/>
                </a:solidFill>
                <a:latin typeface="Calibri" pitchFamily="34" charset="0"/>
                <a:ea typeface="Calibri" pitchFamily="34" charset="-122"/>
                <a:cs typeface="Calibri" pitchFamily="34" charset="-120"/>
              </a:rPr>
              <a:t>Write the final report with clean code and documentation</a:t>
            </a:r>
            <a:endParaRPr lang="en-US" sz="1450" dirty="0"/>
          </a:p>
        </p:txBody>
      </p:sp>
      <p:sp>
        <p:nvSpPr>
          <p:cNvPr id="27" name="Text 25"/>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28" name="Text 26"/>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A3B"/>
          </a:solidFill>
          <a:ln/>
        </p:spPr>
      </p:sp>
      <p:sp>
        <p:nvSpPr>
          <p:cNvPr id="3" name="Shape 1"/>
          <p:cNvSpPr/>
          <p:nvPr/>
        </p:nvSpPr>
        <p:spPr>
          <a:xfrm>
            <a:off x="0" y="1051560"/>
            <a:ext cx="12188952" cy="54864"/>
          </a:xfrm>
          <a:prstGeom prst="rect">
            <a:avLst/>
          </a:prstGeom>
          <a:solidFill>
            <a:srgbClr val="3FA7BE"/>
          </a:solidFill>
          <a:ln/>
        </p:spPr>
      </p:sp>
      <p:sp>
        <p:nvSpPr>
          <p:cNvPr id="4" name="Shape 2"/>
          <p:cNvSpPr/>
          <p:nvPr/>
        </p:nvSpPr>
        <p:spPr>
          <a:xfrm>
            <a:off x="0" y="0"/>
            <a:ext cx="146304" cy="1051560"/>
          </a:xfrm>
          <a:prstGeom prst="rect">
            <a:avLst/>
          </a:prstGeom>
          <a:solidFill>
            <a:srgbClr val="3FA7BE"/>
          </a:solidFill>
          <a:ln/>
        </p:spPr>
      </p:sp>
      <p:sp>
        <p:nvSpPr>
          <p:cNvPr id="5" name="Text 3"/>
          <p:cNvSpPr/>
          <p:nvPr/>
        </p:nvSpPr>
        <p:spPr>
          <a:xfrm>
            <a:off x="548640" y="155448"/>
            <a:ext cx="10058400" cy="256032"/>
          </a:xfrm>
          <a:prstGeom prst="rect">
            <a:avLst/>
          </a:prstGeom>
          <a:noFill/>
          <a:ln/>
        </p:spPr>
        <p:txBody>
          <a:bodyPr wrap="square" rtlCol="0" anchor="ctr"/>
          <a:lstStyle/>
          <a:p>
            <a:pPr marL="0" indent="0">
              <a:buNone/>
            </a:pPr>
            <a:r>
              <a:rPr lang="en-US" sz="1150" b="1" kern="0" spc="200" dirty="0">
                <a:solidFill>
                  <a:srgbClr val="3FA7BE"/>
                </a:solidFill>
                <a:latin typeface="Calibri" pitchFamily="34" charset="0"/>
                <a:ea typeface="Calibri" pitchFamily="34" charset="-122"/>
                <a:cs typeface="Calibri" pitchFamily="34" charset="-120"/>
              </a:rPr>
              <a:t>CONCLUSION</a:t>
            </a:r>
            <a:endParaRPr lang="en-US" sz="1150" dirty="0"/>
          </a:p>
        </p:txBody>
      </p:sp>
      <p:sp>
        <p:nvSpPr>
          <p:cNvPr id="6" name="Text 4"/>
          <p:cNvSpPr/>
          <p:nvPr/>
        </p:nvSpPr>
        <p:spPr>
          <a:xfrm>
            <a:off x="530352" y="402336"/>
            <a:ext cx="110642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Summary</a:t>
            </a:r>
            <a:endParaRPr lang="en-US" sz="2500" dirty="0"/>
          </a:p>
        </p:txBody>
      </p:sp>
      <p:sp>
        <p:nvSpPr>
          <p:cNvPr id="7" name="Shape 5"/>
          <p:cNvSpPr/>
          <p:nvPr/>
        </p:nvSpPr>
        <p:spPr>
          <a:xfrm>
            <a:off x="685800" y="1600200"/>
            <a:ext cx="201168" cy="201168"/>
          </a:xfrm>
          <a:prstGeom prst="rect">
            <a:avLst/>
          </a:prstGeom>
          <a:solidFill>
            <a:srgbClr val="0E7C86"/>
          </a:solidFill>
          <a:ln/>
        </p:spPr>
      </p:sp>
      <p:sp>
        <p:nvSpPr>
          <p:cNvPr id="8" name="Text 6"/>
          <p:cNvSpPr/>
          <p:nvPr/>
        </p:nvSpPr>
        <p:spPr>
          <a:xfrm>
            <a:off x="1097280" y="1508760"/>
            <a:ext cx="10332720" cy="822960"/>
          </a:xfrm>
          <a:prstGeom prst="rect">
            <a:avLst/>
          </a:prstGeom>
          <a:noFill/>
          <a:ln/>
        </p:spPr>
        <p:txBody>
          <a:bodyPr wrap="square" rtlCol="0" anchor="t"/>
          <a:lstStyle/>
          <a:p>
            <a:pPr marL="0" indent="0">
              <a:buNone/>
            </a:pPr>
            <a:r>
              <a:rPr lang="en-US" sz="1600" dirty="0">
                <a:solidFill>
                  <a:srgbClr val="2C3E45"/>
                </a:solidFill>
                <a:latin typeface="Calibri" pitchFamily="34" charset="0"/>
                <a:ea typeface="Calibri" pitchFamily="34" charset="-122"/>
                <a:cs typeface="Calibri" pitchFamily="34" charset="-120"/>
              </a:rPr>
              <a:t>LeakWatch detects water leaks from a few pressure sensors using machine learning.</a:t>
            </a:r>
            <a:endParaRPr lang="en-US" sz="1600" dirty="0"/>
          </a:p>
        </p:txBody>
      </p:sp>
      <p:sp>
        <p:nvSpPr>
          <p:cNvPr id="9" name="Shape 7"/>
          <p:cNvSpPr/>
          <p:nvPr/>
        </p:nvSpPr>
        <p:spPr>
          <a:xfrm>
            <a:off x="685800" y="2514600"/>
            <a:ext cx="201168" cy="201168"/>
          </a:xfrm>
          <a:prstGeom prst="rect">
            <a:avLst/>
          </a:prstGeom>
          <a:solidFill>
            <a:srgbClr val="0E7C86"/>
          </a:solidFill>
          <a:ln/>
        </p:spPr>
      </p:sp>
      <p:sp>
        <p:nvSpPr>
          <p:cNvPr id="10" name="Text 8"/>
          <p:cNvSpPr/>
          <p:nvPr/>
        </p:nvSpPr>
        <p:spPr>
          <a:xfrm>
            <a:off x="1097280" y="2423160"/>
            <a:ext cx="10332720" cy="822960"/>
          </a:xfrm>
          <a:prstGeom prst="rect">
            <a:avLst/>
          </a:prstGeom>
          <a:noFill/>
          <a:ln/>
        </p:spPr>
        <p:txBody>
          <a:bodyPr wrap="square" rtlCol="0" anchor="t"/>
          <a:lstStyle/>
          <a:p>
            <a:pPr marL="0" indent="0">
              <a:buNone/>
            </a:pPr>
            <a:r>
              <a:rPr lang="en-US" sz="1600" dirty="0">
                <a:solidFill>
                  <a:srgbClr val="2C3E45"/>
                </a:solidFill>
                <a:latin typeface="Calibri" pitchFamily="34" charset="0"/>
                <a:ea typeface="Calibri" pitchFamily="34" charset="-122"/>
                <a:cs typeface="Calibri" pitchFamily="34" charset="-120"/>
              </a:rPr>
              <a:t>Done so far: a simulated labelled dataset, the 'drop' feature, and a Random Forest detecting leaks at ~98%, justified by a model comparison.</a:t>
            </a:r>
            <a:endParaRPr lang="en-US" sz="1600" dirty="0"/>
          </a:p>
        </p:txBody>
      </p:sp>
      <p:sp>
        <p:nvSpPr>
          <p:cNvPr id="11" name="Shape 9"/>
          <p:cNvSpPr/>
          <p:nvPr/>
        </p:nvSpPr>
        <p:spPr>
          <a:xfrm>
            <a:off x="685800" y="3429000"/>
            <a:ext cx="201168" cy="201168"/>
          </a:xfrm>
          <a:prstGeom prst="rect">
            <a:avLst/>
          </a:prstGeom>
          <a:solidFill>
            <a:srgbClr val="0E7C86"/>
          </a:solidFill>
          <a:ln/>
        </p:spPr>
      </p:sp>
      <p:sp>
        <p:nvSpPr>
          <p:cNvPr id="12" name="Text 10"/>
          <p:cNvSpPr/>
          <p:nvPr/>
        </p:nvSpPr>
        <p:spPr>
          <a:xfrm>
            <a:off x="1097280" y="3337560"/>
            <a:ext cx="10332720" cy="822960"/>
          </a:xfrm>
          <a:prstGeom prst="rect">
            <a:avLst/>
          </a:prstGeom>
          <a:noFill/>
          <a:ln/>
        </p:spPr>
        <p:txBody>
          <a:bodyPr wrap="square" rtlCol="0" anchor="t"/>
          <a:lstStyle/>
          <a:p>
            <a:pPr marL="0" indent="0">
              <a:buNone/>
            </a:pPr>
            <a:r>
              <a:rPr lang="en-US" sz="1600" dirty="0">
                <a:solidFill>
                  <a:srgbClr val="2C3E45"/>
                </a:solidFill>
                <a:latin typeface="Calibri" pitchFamily="34" charset="0"/>
                <a:ea typeface="Calibri" pitchFamily="34" charset="-122"/>
                <a:cs typeface="Calibri" pitchFamily="34" charset="-120"/>
              </a:rPr>
              <a:t>Still to do: localization, response routing, real-data validation, and the final write-up.</a:t>
            </a:r>
            <a:endParaRPr lang="en-US" sz="1600" dirty="0"/>
          </a:p>
        </p:txBody>
      </p:sp>
      <p:sp>
        <p:nvSpPr>
          <p:cNvPr id="13" name="Shape 11"/>
          <p:cNvSpPr/>
          <p:nvPr/>
        </p:nvSpPr>
        <p:spPr>
          <a:xfrm>
            <a:off x="685800" y="5212080"/>
            <a:ext cx="10789920" cy="868680"/>
          </a:xfrm>
          <a:prstGeom prst="roundRect">
            <a:avLst>
              <a:gd name="adj" fmla="val 8421"/>
            </a:avLst>
          </a:prstGeom>
          <a:solidFill>
            <a:srgbClr val="0B2A3B"/>
          </a:solidFill>
          <a:ln/>
        </p:spPr>
      </p:sp>
      <p:sp>
        <p:nvSpPr>
          <p:cNvPr id="14" name="Text 12"/>
          <p:cNvSpPr/>
          <p:nvPr/>
        </p:nvSpPr>
        <p:spPr>
          <a:xfrm>
            <a:off x="868680" y="5212080"/>
            <a:ext cx="10424160" cy="868680"/>
          </a:xfrm>
          <a:prstGeom prst="rect">
            <a:avLst/>
          </a:prstGeom>
          <a:noFill/>
          <a:ln/>
        </p:spPr>
        <p:txBody>
          <a:bodyPr wrap="square" rtlCol="0" anchor="ctr"/>
          <a:lstStyle/>
          <a:p>
            <a:pPr marL="0" indent="0" algn="ctr">
              <a:buNone/>
            </a:pPr>
            <a:r>
              <a:rPr lang="en-US" sz="1500" b="1" dirty="0">
                <a:solidFill>
                  <a:srgbClr val="DCEEF1"/>
                </a:solidFill>
                <a:latin typeface="Calibri" pitchFamily="34" charset="0"/>
                <a:ea typeface="Calibri" pitchFamily="34" charset="-122"/>
                <a:cs typeface="Calibri" pitchFamily="34" charset="-120"/>
              </a:rPr>
              <a:t>Detect  -&gt;  Localize  -&gt;  Respond    |    Detection is built and validated; the rest is in progress.</a:t>
            </a:r>
            <a:endParaRPr lang="en-US" sz="1500" dirty="0"/>
          </a:p>
        </p:txBody>
      </p:sp>
      <p:sp>
        <p:nvSpPr>
          <p:cNvPr id="15" name="Text 13"/>
          <p:cNvSpPr/>
          <p:nvPr/>
        </p:nvSpPr>
        <p:spPr>
          <a:xfrm>
            <a:off x="502920" y="6446520"/>
            <a:ext cx="6400800" cy="274320"/>
          </a:xfrm>
          <a:prstGeom prst="rect">
            <a:avLst/>
          </a:prstGeom>
          <a:noFill/>
          <a:ln/>
        </p:spPr>
        <p:txBody>
          <a:bodyPr wrap="square" rtlCol="0" anchor="ctr"/>
          <a:lstStyle/>
          <a:p>
            <a:pPr marL="0" indent="0">
              <a:buNone/>
            </a:pPr>
            <a:r>
              <a:rPr lang="en-US" sz="1000" dirty="0">
                <a:solidFill>
                  <a:srgbClr val="7E95A0"/>
                </a:solidFill>
                <a:latin typeface="Calibri" pitchFamily="34" charset="0"/>
                <a:ea typeface="Calibri" pitchFamily="34" charset="-122"/>
                <a:cs typeface="Calibri" pitchFamily="34" charset="-120"/>
              </a:rPr>
              <a:t>LeakWatch  -  Midterm Progress</a:t>
            </a:r>
            <a:endParaRPr lang="en-US" sz="1000" dirty="0"/>
          </a:p>
        </p:txBody>
      </p:sp>
      <p:sp>
        <p:nvSpPr>
          <p:cNvPr id="16" name="Text 14"/>
          <p:cNvSpPr/>
          <p:nvPr/>
        </p:nvSpPr>
        <p:spPr>
          <a:xfrm>
            <a:off x="11338560" y="6446520"/>
            <a:ext cx="548640" cy="274320"/>
          </a:xfrm>
          <a:prstGeom prst="rect">
            <a:avLst/>
          </a:prstGeom>
          <a:noFill/>
          <a:ln/>
        </p:spPr>
        <p:txBody>
          <a:bodyPr wrap="square" rtlCol="0" anchor="ctr"/>
          <a:lstStyle/>
          <a:p>
            <a:pPr marL="0" indent="0" algn="r">
              <a:buNone/>
            </a:pPr>
            <a:r>
              <a:rPr lang="en-US" sz="1000" dirty="0">
                <a:solidFill>
                  <a:srgbClr val="7E95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3278</Words>
  <Application>Microsoft Office PowerPoint</Application>
  <PresentationFormat>Custom</PresentationFormat>
  <Paragraphs>202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Ravali chowdary</cp:lastModifiedBy>
  <cp:revision>2</cp:revision>
  <dcterms:created xsi:type="dcterms:W3CDTF">2026-10-16T14:47:45Z</dcterms:created>
  <dcterms:modified xsi:type="dcterms:W3CDTF">2026-10-16T15:56:11Z</dcterms:modified>
</cp:coreProperties>
</file>